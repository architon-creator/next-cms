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d6eb6e2-36e0-7ecc-5eb6-b887134ea122}">
          <p14:sldIdLst>
            <p14:sldId id="256"/>
            <p14:sldId id="257"/>
            <p14:sldId id="258"/>
            <p14:sldId id="259"/>
            <p14:sldId id="260"/>
          </p14:sldIdLst>
        </p14:section>
        <p14:section name="Add" id="{27eed705-6f5b-4efd-e54b-b960d38c9b6c}">
          <p14:sldIdLst>
            <p14:sldId id="261"/>
            <p14:sldId id="262"/>
            <p14:sldId id="263"/>
            <p14:sldId id="264"/>
            <p14:sldId id="265"/>
          </p14:sldIdLst>
        </p14:section>
        <p14:section name="Update" id="{cd7bf5eb-e089-2815-8ed3-0204f2cbf0cc}">
          <p14:sldIdLst>
            <p14:sldId id="266"/>
            <p14:sldId id="267"/>
            <p14:sldId id="268"/>
            <p14:sldId id="269"/>
            <p14:sldId id="270"/>
            <p14:sldId id="271"/>
            <p14:sldId id="272"/>
            <p14:sldId id="273"/>
          </p14:sldIdLst>
        </p14:section>
        <p14:section name="Wrap-up" id="{5c1e1fd2-b61a-f7d9-194a-8b48452e4c35}">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of the product form: what the UI sends, how the backend processes it, and what ends up in the database and on disk. Add and update each have their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talks to the Next.js app. Next forwards the same multipart body to the API. The API validates, writes files to the uploads folder and rows to the database, then answers with the saved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multipart/form-data request: one text part with the JSON, one file part per new image, and an optional PDF part. The filename of each file part is its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has an id. A new image puts its id in the payload and uses the same id as the filename of its file part. On update, a kept image is referenced by its current URL and sends no file; a removed image is simply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plus a folder. The product table holds the fields and the PDF URL; each image is its own row in product_image with its position. The uploads folder holds the actual bytes; the database only stores their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section: creating a new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Submit the form builds a FormData object: the payload JSON, one productImage file part per item and an optional productPdf part. The ids are product-image-1, product-image-2 and so on, from each item's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runs completely before anything is written. Only after every check passes are the files stored and the database rows saved. The response carries the new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user adds two images and a PDF. The product row stores the fields and the PDF URL, each image becomes a product_image row with its position, and three files are written to the uploads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returns HTTP 400 with an error message. Because validation runs first, nothing is saved to the database and no file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section: editing a saved product. The database already knows the current images, so the update is a comparison between what is stored and what the form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 save the form is in edit mode. Stored images show from their URL; only new files are re-sent. Each UI action maps to a payload entry and, only for new files, a file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loads the stored product from the database first, so it knows the current image URLs and PDF. It validates against them, writes only the new files, saves the database, and deletes unused files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cases you listed. Kept images send only their URL; new images send an id and a file. Anything left out of the list is removed, and its row and file go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image changes you can make in one update. All are verified by the automated case tests on both backends.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PDF has three outcomes on update: replace it with a new file, keep it by sending its current URL, or remove it by leaving it out. A mismatch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rejected with 400 (or 404 for an unknown id), and the test suite checks that the database row and the uploads folder are identical to before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write new files, save the database, then delete. A failure at any stage leaves the previous state intact, and the worst case is a harmless leftover file rather than a database row pointing at a missing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request format is used for both. The differences are what an image entry may be, whether a product must already exist, and whether files can be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limits are enforced by the API. The known gaps are the honest edges of this demo: no locking, local file storage, and the Express backend does not persist.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Product upload flow</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3B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2468880"/>
            <a:ext cx="7863840" cy="82296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2.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Product upload: UI to API to database</a:t>
            </a:r>
            <a:endParaRPr lang="en-US" sz="4000" dirty="0"/>
          </a:p>
        </p:txBody>
      </p:sp>
      <p:sp>
        <p:nvSpPr>
          <p:cNvPr id="3" name="Text 0"/>
          <p:cNvSpPr/>
          <p:nvPr>
            <p:ph idx="101" type="body" hasCustomPrompt="1"/>
          </p:nvPr>
        </p:nvSpPr>
        <p:spPr>
          <a:xfrm>
            <a:off x="640080" y="2468880"/>
            <a:ext cx="7863840" cy="82296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How a product is added and updated, case by case</a:t>
            </a:r>
            <a:endParaRPr lang="en-US" sz="2000" dirty="0"/>
          </a:p>
        </p:txBody>
      </p:sp>
      <p:sp>
        <p:nvSpPr>
          <p:cNvPr id="5" name="Browser circle"/>
          <p:cNvSpPr/>
          <p:nvPr/>
        </p:nvSpPr>
        <p:spPr>
          <a:xfrm>
            <a:off x="640080" y="3657600"/>
            <a:ext cx="731520" cy="731520"/>
          </a:xfrm>
          <a:prstGeom prst="ellipse">
            <a:avLst/>
          </a:prstGeom>
          <a:solidFill>
            <a:schemeClr val="accent1"/>
          </a:solidFill>
          <a:ln/>
        </p:spPr>
      </p:sp>
      <p:pic>
        <p:nvPicPr>
          <p:cNvPr id="6" name="Image 0" descr="Browser">    </p:cNvPr>
          <p:cNvPicPr>
            <a:picLocks noChangeAspect="1"/>
          </p:cNvPicPr>
          <p:nvPr/>
        </p:nvPicPr>
        <p:blipFill>
          <a:blip r:embed="rId1"/>
          <a:stretch>
            <a:fillRect/>
          </a:stretch>
        </p:blipFill>
        <p:spPr>
          <a:xfrm>
            <a:off x="822960" y="3840480"/>
            <a:ext cx="365760" cy="365760"/>
          </a:xfrm>
          <a:prstGeom prst="rect">
            <a:avLst/>
          </a:prstGeom>
        </p:spPr>
      </p:pic>
      <p:sp>
        <p:nvSpPr>
          <p:cNvPr id="7" name="Arrow"/>
          <p:cNvSpPr/>
          <p:nvPr/>
        </p:nvSpPr>
        <p:spPr>
          <a:xfrm>
            <a:off x="1463040" y="4023360"/>
            <a:ext cx="640080" cy="0"/>
          </a:xfrm>
          <a:prstGeom prst="line">
            <a:avLst/>
          </a:prstGeom>
          <a:noFill/>
          <a:ln w="25400">
            <a:solidFill>
              <a:schemeClr val="accent5"/>
            </a:solidFill>
            <a:prstDash val="solid"/>
            <a:tailEnd type="triangle"/>
          </a:ln>
        </p:spPr>
      </p:sp>
      <p:sp>
        <p:nvSpPr>
          <p:cNvPr id="8" name="API circle"/>
          <p:cNvSpPr/>
          <p:nvPr/>
        </p:nvSpPr>
        <p:spPr>
          <a:xfrm>
            <a:off x="2194560" y="3657600"/>
            <a:ext cx="731520" cy="731520"/>
          </a:xfrm>
          <a:prstGeom prst="ellipse">
            <a:avLst/>
          </a:prstGeom>
          <a:solidFill>
            <a:schemeClr val="accent1"/>
          </a:solidFill>
          <a:ln/>
        </p:spPr>
      </p:sp>
      <p:pic>
        <p:nvPicPr>
          <p:cNvPr id="9" name="Image 1" descr="API">    </p:cNvPr>
          <p:cNvPicPr>
            <a:picLocks noChangeAspect="1"/>
          </p:cNvPicPr>
          <p:nvPr/>
        </p:nvPicPr>
        <p:blipFill>
          <a:blip r:embed="rId2"/>
          <a:stretch>
            <a:fillRect/>
          </a:stretch>
        </p:blipFill>
        <p:spPr>
          <a:xfrm>
            <a:off x="2377440" y="3840480"/>
            <a:ext cx="365760" cy="365760"/>
          </a:xfrm>
          <a:prstGeom prst="rect">
            <a:avLst/>
          </a:prstGeom>
        </p:spPr>
      </p:pic>
      <p:sp>
        <p:nvSpPr>
          <p:cNvPr id="10" name="Arrow"/>
          <p:cNvSpPr/>
          <p:nvPr/>
        </p:nvSpPr>
        <p:spPr>
          <a:xfrm>
            <a:off x="3017520" y="4023360"/>
            <a:ext cx="640080" cy="0"/>
          </a:xfrm>
          <a:prstGeom prst="line">
            <a:avLst/>
          </a:prstGeom>
          <a:noFill/>
          <a:ln w="25400">
            <a:solidFill>
              <a:schemeClr val="accent5"/>
            </a:solidFill>
            <a:prstDash val="solid"/>
            <a:tailEnd type="triangle"/>
          </a:ln>
        </p:spPr>
      </p:sp>
      <p:sp>
        <p:nvSpPr>
          <p:cNvPr id="11" name="Database circle"/>
          <p:cNvSpPr/>
          <p:nvPr/>
        </p:nvSpPr>
        <p:spPr>
          <a:xfrm>
            <a:off x="3749040" y="3657600"/>
            <a:ext cx="731520" cy="731520"/>
          </a:xfrm>
          <a:prstGeom prst="ellipse">
            <a:avLst/>
          </a:prstGeom>
          <a:solidFill>
            <a:schemeClr val="accent1"/>
          </a:solidFill>
          <a:ln/>
        </p:spPr>
      </p:sp>
      <p:pic>
        <p:nvPicPr>
          <p:cNvPr id="12" name="Image 2" descr="Database">    </p:cNvPr>
          <p:cNvPicPr>
            <a:picLocks noChangeAspect="1"/>
          </p:cNvPicPr>
          <p:nvPr/>
        </p:nvPicPr>
        <p:blipFill>
          <a:blip r:embed="rId3"/>
          <a:stretch>
            <a:fillRect/>
          </a:stretch>
        </p:blipFill>
        <p:spPr>
          <a:xfrm>
            <a:off x="3931920" y="3840480"/>
            <a:ext cx="365760" cy="365760"/>
          </a:xfrm>
          <a:prstGeom prst="rect">
            <a:avLst/>
          </a:prstGeom>
        </p:spPr>
      </p:pic>
      <p:sp>
        <p:nvSpPr>
          <p:cNvPr id="13" name="Text 7"/>
          <p:cNvSpPr txBox="1"/>
          <p:nvPr/>
        </p:nvSpPr>
        <p:spPr>
          <a:xfrm>
            <a:off x="4754880" y="3749040"/>
            <a:ext cx="3931920" cy="594360"/>
          </a:xfrm>
          <a:prstGeom prst="rect">
            <a:avLst/>
          </a:prstGeom>
          <a:noFill/>
          <a:ln/>
        </p:spPr>
        <p:txBody>
          <a:bodyPr wrap="square" lIns="0" tIns="0" rIns="0" bIns="0" rtlCol="0" anchor="ctr"/>
          <a:lstStyle/>
          <a:p>
            <a:pPr indent="0" marL="0">
              <a:buNone/>
            </a:pPr>
            <a:r>
              <a:rPr lang="en-US" sz="1400" dirty="0">
                <a:solidFill>
                  <a:schemeClr val="bg2"/>
                </a:solidFill>
                <a:latin typeface="Calibri" pitchFamily="34" charset="0"/>
                <a:ea typeface="Calibri" pitchFamily="34" charset="-122"/>
                <a:cs typeface="Calibri" pitchFamily="34" charset="-120"/>
              </a:rPr>
              <a:t>Next.js form  ·  Java API (Express alternative)</a:t>
            </a:r>
            <a:endParaRPr lang="en-US" sz="1400" dirty="0"/>
          </a:p>
          <a:p>
            <a:pPr indent="0" marL="0">
              <a:buNone/>
            </a:pPr>
            <a:r>
              <a:rPr lang="en-US" sz="1400" dirty="0">
                <a:solidFill>
                  <a:schemeClr val="bg2"/>
                </a:solidFill>
                <a:latin typeface="Calibri" pitchFamily="34" charset="0"/>
                <a:ea typeface="Calibri" pitchFamily="34" charset="-122"/>
                <a:cs typeface="Calibri" pitchFamily="34" charset="-120"/>
              </a:rPr>
              <a:t>H2 database  ·  uploads folder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big picture</a:t>
            </a:r>
            <a:endParaRPr lang="en-US" sz="3200" dirty="0"/>
          </a:p>
        </p:txBody>
      </p:sp>
      <p:sp>
        <p:nvSpPr>
          <p:cNvPr id="4" name="Product form"/>
          <p:cNvSpPr/>
          <p:nvPr/>
        </p:nvSpPr>
        <p:spPr>
          <a:xfrm>
            <a:off x="457200" y="1234440"/>
            <a:ext cx="1691640" cy="1554480"/>
          </a:xfrm>
          <a:prstGeom prst="roundRect">
            <a:avLst>
              <a:gd name="adj" fmla="val 4706"/>
            </a:avLst>
          </a:prstGeom>
          <a:solidFill>
            <a:schemeClr val="bg2"/>
          </a:solidFill>
          <a:ln/>
          <a:effectLst>
            <a:outerShdw sx="100000" sy="100000" kx="0" ky="0" algn="bl" rotWithShape="0" blurRad="76200" dist="25400" dir="5400000">
              <a:srgbClr val="000000">
                <a:alpha val="12000"/>
              </a:srgbClr>
            </a:outerShdw>
          </a:effectLst>
        </p:spPr>
      </p:sp>
      <p:sp>
        <p:nvSpPr>
          <p:cNvPr id="5" name="Product form circle"/>
          <p:cNvSpPr/>
          <p:nvPr/>
        </p:nvSpPr>
        <p:spPr>
          <a:xfrm>
            <a:off x="1074420" y="1371600"/>
            <a:ext cx="457200" cy="457200"/>
          </a:xfrm>
          <a:prstGeom prst="ellipse">
            <a:avLst/>
          </a:prstGeom>
          <a:solidFill>
            <a:schemeClr val="accent1"/>
          </a:solidFill>
          <a:ln/>
        </p:spPr>
      </p:sp>
      <p:pic>
        <p:nvPicPr>
          <p:cNvPr id="6" name="Image 0" descr="Product form">    </p:cNvPr>
          <p:cNvPicPr>
            <a:picLocks noChangeAspect="1"/>
          </p:cNvPicPr>
          <p:nvPr/>
        </p:nvPicPr>
        <p:blipFill>
          <a:blip r:embed="rId1"/>
          <a:stretch>
            <a:fillRect/>
          </a:stretch>
        </p:blipFill>
        <p:spPr>
          <a:xfrm>
            <a:off x="1188720" y="1485900"/>
            <a:ext cx="228600" cy="228600"/>
          </a:xfrm>
          <a:prstGeom prst="rect">
            <a:avLst/>
          </a:prstGeom>
        </p:spPr>
      </p:pic>
      <p:sp>
        <p:nvSpPr>
          <p:cNvPr id="7" name="Text 3"/>
          <p:cNvSpPr txBox="1"/>
          <p:nvPr/>
        </p:nvSpPr>
        <p:spPr>
          <a:xfrm>
            <a:off x="548640" y="1920240"/>
            <a:ext cx="15087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Product form</a:t>
            </a:r>
            <a:endParaRPr lang="en-US" sz="1400" dirty="0"/>
          </a:p>
        </p:txBody>
      </p:sp>
      <p:sp>
        <p:nvSpPr>
          <p:cNvPr id="8" name="Text 4"/>
          <p:cNvSpPr txBox="1"/>
          <p:nvPr/>
        </p:nvSpPr>
        <p:spPr>
          <a:xfrm>
            <a:off x="548640" y="2194560"/>
            <a:ext cx="150876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Next.js page builds one multipart request</a:t>
            </a:r>
            <a:endParaRPr lang="en-US" sz="1200" dirty="0"/>
          </a:p>
        </p:txBody>
      </p:sp>
      <p:sp>
        <p:nvSpPr>
          <p:cNvPr id="9" name="Next route"/>
          <p:cNvSpPr/>
          <p:nvPr/>
        </p:nvSpPr>
        <p:spPr>
          <a:xfrm>
            <a:off x="2606040" y="1234440"/>
            <a:ext cx="1691640" cy="1554480"/>
          </a:xfrm>
          <a:prstGeom prst="roundRect">
            <a:avLst>
              <a:gd name="adj" fmla="val 4706"/>
            </a:avLst>
          </a:prstGeom>
          <a:solidFill>
            <a:schemeClr val="bg2"/>
          </a:solidFill>
          <a:ln/>
          <a:effectLst>
            <a:outerShdw sx="100000" sy="100000" kx="0" ky="0" algn="bl" rotWithShape="0" blurRad="76200" dist="25400" dir="5400000">
              <a:srgbClr val="000000">
                <a:alpha val="12000"/>
              </a:srgbClr>
            </a:outerShdw>
          </a:effectLst>
        </p:spPr>
      </p:sp>
      <p:sp>
        <p:nvSpPr>
          <p:cNvPr id="10" name="Next route circle"/>
          <p:cNvSpPr/>
          <p:nvPr/>
        </p:nvSpPr>
        <p:spPr>
          <a:xfrm>
            <a:off x="3223260" y="1371600"/>
            <a:ext cx="457200" cy="457200"/>
          </a:xfrm>
          <a:prstGeom prst="ellipse">
            <a:avLst/>
          </a:prstGeom>
          <a:solidFill>
            <a:schemeClr val="accent1"/>
          </a:solidFill>
          <a:ln/>
        </p:spPr>
      </p:sp>
      <p:pic>
        <p:nvPicPr>
          <p:cNvPr id="11" name="Image 1" descr="Next route">    </p:cNvPr>
          <p:cNvPicPr>
            <a:picLocks noChangeAspect="1"/>
          </p:cNvPicPr>
          <p:nvPr/>
        </p:nvPicPr>
        <p:blipFill>
          <a:blip r:embed="rId2"/>
          <a:stretch>
            <a:fillRect/>
          </a:stretch>
        </p:blipFill>
        <p:spPr>
          <a:xfrm>
            <a:off x="3337560" y="1485900"/>
            <a:ext cx="228600" cy="228600"/>
          </a:xfrm>
          <a:prstGeom prst="rect">
            <a:avLst/>
          </a:prstGeom>
        </p:spPr>
      </p:pic>
      <p:sp>
        <p:nvSpPr>
          <p:cNvPr id="12" name="Text 7"/>
          <p:cNvSpPr txBox="1"/>
          <p:nvPr/>
        </p:nvSpPr>
        <p:spPr>
          <a:xfrm>
            <a:off x="2697480" y="1920240"/>
            <a:ext cx="15087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Next route</a:t>
            </a:r>
            <a:endParaRPr lang="en-US" sz="1400" dirty="0"/>
          </a:p>
        </p:txBody>
      </p:sp>
      <p:sp>
        <p:nvSpPr>
          <p:cNvPr id="13" name="Text 8"/>
          <p:cNvSpPr txBox="1"/>
          <p:nvPr/>
        </p:nvSpPr>
        <p:spPr>
          <a:xfrm>
            <a:off x="2697480" y="2194560"/>
            <a:ext cx="150876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/api/product-demo forwards it unchanged</a:t>
            </a:r>
            <a:endParaRPr lang="en-US" sz="1200" dirty="0"/>
          </a:p>
        </p:txBody>
      </p:sp>
      <p:sp>
        <p:nvSpPr>
          <p:cNvPr id="14" name="Java API"/>
          <p:cNvSpPr/>
          <p:nvPr/>
        </p:nvSpPr>
        <p:spPr>
          <a:xfrm>
            <a:off x="4754880" y="1234440"/>
            <a:ext cx="1691640" cy="1554480"/>
          </a:xfrm>
          <a:prstGeom prst="roundRect">
            <a:avLst>
              <a:gd name="adj" fmla="val 4706"/>
            </a:avLst>
          </a:prstGeom>
          <a:solidFill>
            <a:schemeClr val="bg2"/>
          </a:solidFill>
          <a:ln/>
          <a:effectLst>
            <a:outerShdw sx="100000" sy="100000" kx="0" ky="0" algn="bl" rotWithShape="0" blurRad="76200" dist="25400" dir="5400000">
              <a:srgbClr val="000000">
                <a:alpha val="12000"/>
              </a:srgbClr>
            </a:outerShdw>
          </a:effectLst>
        </p:spPr>
      </p:sp>
      <p:sp>
        <p:nvSpPr>
          <p:cNvPr id="15" name="Java API circle"/>
          <p:cNvSpPr/>
          <p:nvPr/>
        </p:nvSpPr>
        <p:spPr>
          <a:xfrm>
            <a:off x="5372100" y="1371600"/>
            <a:ext cx="457200" cy="457200"/>
          </a:xfrm>
          <a:prstGeom prst="ellipse">
            <a:avLst/>
          </a:prstGeom>
          <a:solidFill>
            <a:schemeClr val="accent1"/>
          </a:solidFill>
          <a:ln/>
        </p:spPr>
      </p:sp>
      <p:pic>
        <p:nvPicPr>
          <p:cNvPr id="16" name="Image 2" descr="Java API">    </p:cNvPr>
          <p:cNvPicPr>
            <a:picLocks noChangeAspect="1"/>
          </p:cNvPicPr>
          <p:nvPr/>
        </p:nvPicPr>
        <p:blipFill>
          <a:blip r:embed="rId3"/>
          <a:stretch>
            <a:fillRect/>
          </a:stretch>
        </p:blipFill>
        <p:spPr>
          <a:xfrm>
            <a:off x="5486400" y="1485900"/>
            <a:ext cx="228600" cy="228600"/>
          </a:xfrm>
          <a:prstGeom prst="rect">
            <a:avLst/>
          </a:prstGeom>
        </p:spPr>
      </p:pic>
      <p:sp>
        <p:nvSpPr>
          <p:cNvPr id="17" name="Text 11"/>
          <p:cNvSpPr txBox="1"/>
          <p:nvPr/>
        </p:nvSpPr>
        <p:spPr>
          <a:xfrm>
            <a:off x="4846320" y="1920240"/>
            <a:ext cx="15087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Java API</a:t>
            </a:r>
            <a:endParaRPr lang="en-US" sz="1400" dirty="0"/>
          </a:p>
        </p:txBody>
      </p:sp>
      <p:sp>
        <p:nvSpPr>
          <p:cNvPr id="18" name="Text 12"/>
          <p:cNvSpPr txBox="1"/>
          <p:nvPr/>
        </p:nvSpPr>
        <p:spPr>
          <a:xfrm>
            <a:off x="4846320" y="2194560"/>
            <a:ext cx="1508760" cy="548640"/>
          </a:xfrm>
          <a:prstGeom prst="rect">
            <a:avLst/>
          </a:prstGeom>
          <a:noFill/>
          <a:ln/>
        </p:spPr>
        <p:txBody>
          <a:bodyPr wrap="square" lIns="0" tIns="0" rIns="0" bIns="0" rtlCol="0" anchor="t"/>
          <a:lstStyle/>
          <a:p>
            <a:pPr algn="ctr" indent="0" marL="0">
              <a:buNone/>
            </a:pPr>
            <a:r>
              <a:rPr lang="en-US" sz="1200" dirty="0">
                <a:solidFill>
                  <a:schemeClr val="accent5"/>
                </a:solidFill>
                <a:latin typeface="Calibri" pitchFamily="34" charset="0"/>
                <a:ea typeface="Calibri" pitchFamily="34" charset="-122"/>
                <a:cs typeface="Calibri" pitchFamily="34" charset="-120"/>
              </a:rPr>
              <a:t>Validates, stores files, saves rows</a:t>
            </a:r>
            <a:endParaRPr lang="en-US" sz="1200" dirty="0"/>
          </a:p>
        </p:txBody>
      </p:sp>
      <p:sp>
        <p:nvSpPr>
          <p:cNvPr id="19" name="Arrow"/>
          <p:cNvSpPr/>
          <p:nvPr/>
        </p:nvSpPr>
        <p:spPr>
          <a:xfrm>
            <a:off x="2194560" y="2011680"/>
            <a:ext cx="365760" cy="0"/>
          </a:xfrm>
          <a:prstGeom prst="line">
            <a:avLst/>
          </a:prstGeom>
          <a:noFill/>
          <a:ln w="25400">
            <a:solidFill>
              <a:schemeClr val="accent5"/>
            </a:solidFill>
            <a:prstDash val="solid"/>
            <a:tailEnd type="triangle"/>
          </a:ln>
        </p:spPr>
      </p:sp>
      <p:sp>
        <p:nvSpPr>
          <p:cNvPr id="20" name="Arrow"/>
          <p:cNvSpPr/>
          <p:nvPr/>
        </p:nvSpPr>
        <p:spPr>
          <a:xfrm>
            <a:off x="4343400" y="2011680"/>
            <a:ext cx="365760" cy="0"/>
          </a:xfrm>
          <a:prstGeom prst="line">
            <a:avLst/>
          </a:prstGeom>
          <a:noFill/>
          <a:ln w="25400">
            <a:solidFill>
              <a:schemeClr val="accent5"/>
            </a:solidFill>
            <a:prstDash val="solid"/>
            <a:tailEnd type="triangle"/>
          </a:ln>
        </p:spPr>
      </p:sp>
      <p:sp>
        <p:nvSpPr>
          <p:cNvPr id="21" name="Arrow"/>
          <p:cNvSpPr/>
          <p:nvPr/>
        </p:nvSpPr>
        <p:spPr>
          <a:xfrm>
            <a:off x="6492240" y="2011680"/>
            <a:ext cx="365760" cy="0"/>
          </a:xfrm>
          <a:prstGeom prst="line">
            <a:avLst/>
          </a:prstGeom>
          <a:noFill/>
          <a:ln w="25400">
            <a:solidFill>
              <a:schemeClr val="accent5"/>
            </a:solidFill>
            <a:prstDash val="solid"/>
            <a:tailEnd type="triangle"/>
          </a:ln>
        </p:spPr>
      </p:sp>
      <p:sp>
        <p:nvSpPr>
          <p:cNvPr id="22" name="Database"/>
          <p:cNvSpPr/>
          <p:nvPr/>
        </p:nvSpPr>
        <p:spPr>
          <a:xfrm>
            <a:off x="6903720" y="1234440"/>
            <a:ext cx="1783080" cy="731520"/>
          </a:xfrm>
          <a:prstGeom prst="roundRect">
            <a:avLst>
              <a:gd name="adj" fmla="val 10000"/>
            </a:avLst>
          </a:prstGeom>
          <a:solidFill>
            <a:schemeClr val="accent1"/>
          </a:solidFill>
          <a:ln/>
          <a:effectLst>
            <a:outerShdw sx="100000" sy="100000" kx="0" ky="0" algn="bl" rotWithShape="0" blurRad="76200" dist="25400" dir="5400000">
              <a:srgbClr val="000000">
                <a:alpha val="12000"/>
              </a:srgbClr>
            </a:outerShdw>
          </a:effectLst>
        </p:spPr>
      </p:sp>
      <p:sp>
        <p:nvSpPr>
          <p:cNvPr id="23" name="Database circle"/>
          <p:cNvSpPr/>
          <p:nvPr/>
        </p:nvSpPr>
        <p:spPr>
          <a:xfrm>
            <a:off x="6995160" y="1371600"/>
            <a:ext cx="457200" cy="457200"/>
          </a:xfrm>
          <a:prstGeom prst="ellipse">
            <a:avLst/>
          </a:prstGeom>
          <a:solidFill>
            <a:schemeClr val="accent4"/>
          </a:solidFill>
          <a:ln/>
        </p:spPr>
      </p:sp>
      <p:pic>
        <p:nvPicPr>
          <p:cNvPr id="24" name="Image 3" descr="Database">    </p:cNvPr>
          <p:cNvPicPr>
            <a:picLocks noChangeAspect="1"/>
          </p:cNvPicPr>
          <p:nvPr/>
        </p:nvPicPr>
        <p:blipFill>
          <a:blip r:embed="rId4"/>
          <a:stretch>
            <a:fillRect/>
          </a:stretch>
        </p:blipFill>
        <p:spPr>
          <a:xfrm>
            <a:off x="7109460" y="1485900"/>
            <a:ext cx="228600" cy="228600"/>
          </a:xfrm>
          <a:prstGeom prst="rect">
            <a:avLst/>
          </a:prstGeom>
        </p:spPr>
      </p:pic>
      <p:sp>
        <p:nvSpPr>
          <p:cNvPr id="25" name="Text 18"/>
          <p:cNvSpPr txBox="1"/>
          <p:nvPr/>
        </p:nvSpPr>
        <p:spPr>
          <a:xfrm>
            <a:off x="7543800" y="1362456"/>
            <a:ext cx="1097280" cy="50292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H2 database</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product rows</a:t>
            </a:r>
            <a:endParaRPr lang="en-US" sz="1400" dirty="0"/>
          </a:p>
        </p:txBody>
      </p:sp>
      <p:sp>
        <p:nvSpPr>
          <p:cNvPr id="26" name="Uploads folder"/>
          <p:cNvSpPr/>
          <p:nvPr/>
        </p:nvSpPr>
        <p:spPr>
          <a:xfrm>
            <a:off x="6903720" y="2057400"/>
            <a:ext cx="1783080" cy="731520"/>
          </a:xfrm>
          <a:prstGeom prst="roundRect">
            <a:avLst>
              <a:gd name="adj" fmla="val 10000"/>
            </a:avLst>
          </a:prstGeom>
          <a:solidFill>
            <a:schemeClr val="accent1"/>
          </a:solidFill>
          <a:ln/>
          <a:effectLst>
            <a:outerShdw sx="100000" sy="100000" kx="0" ky="0" algn="bl" rotWithShape="0" blurRad="76200" dist="25400" dir="5400000">
              <a:srgbClr val="000000">
                <a:alpha val="12000"/>
              </a:srgbClr>
            </a:outerShdw>
          </a:effectLst>
        </p:spPr>
      </p:sp>
      <p:sp>
        <p:nvSpPr>
          <p:cNvPr id="27" name="Uploads folder circle"/>
          <p:cNvSpPr/>
          <p:nvPr/>
        </p:nvSpPr>
        <p:spPr>
          <a:xfrm>
            <a:off x="6995160" y="2194560"/>
            <a:ext cx="457200" cy="457200"/>
          </a:xfrm>
          <a:prstGeom prst="ellipse">
            <a:avLst/>
          </a:prstGeom>
          <a:solidFill>
            <a:schemeClr val="accent2"/>
          </a:solidFill>
          <a:ln/>
        </p:spPr>
      </p:sp>
      <p:pic>
        <p:nvPicPr>
          <p:cNvPr id="28" name="Image 4" descr="Uploads folder">    </p:cNvPr>
          <p:cNvPicPr>
            <a:picLocks noChangeAspect="1"/>
          </p:cNvPicPr>
          <p:nvPr/>
        </p:nvPicPr>
        <p:blipFill>
          <a:blip r:embed="rId5"/>
          <a:stretch>
            <a:fillRect/>
          </a:stretch>
        </p:blipFill>
        <p:spPr>
          <a:xfrm>
            <a:off x="7109460" y="2308860"/>
            <a:ext cx="228600" cy="228600"/>
          </a:xfrm>
          <a:prstGeom prst="rect">
            <a:avLst/>
          </a:prstGeom>
        </p:spPr>
      </p:pic>
      <p:sp>
        <p:nvSpPr>
          <p:cNvPr id="29" name="Text 21"/>
          <p:cNvSpPr txBox="1"/>
          <p:nvPr/>
        </p:nvSpPr>
        <p:spPr>
          <a:xfrm>
            <a:off x="7543800" y="2185416"/>
            <a:ext cx="1097280" cy="50292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uploads/</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image + PDF files</a:t>
            </a:r>
            <a:endParaRPr lang="en-US" sz="1400" dirty="0"/>
          </a:p>
        </p:txBody>
      </p:sp>
      <p:sp>
        <p:nvSpPr>
          <p:cNvPr id="30" name="Note 1"/>
          <p:cNvSpPr/>
          <p:nvPr/>
        </p:nvSpPr>
        <p:spPr>
          <a:xfrm>
            <a:off x="457200" y="3108960"/>
            <a:ext cx="2606040" cy="1463040"/>
          </a:xfrm>
          <a:prstGeom prst="roundRect">
            <a:avLst>
              <a:gd name="adj" fmla="val 5000"/>
            </a:avLst>
          </a:prstGeom>
          <a:solidFill>
            <a:schemeClr val="bg1"/>
          </a:solidFill>
          <a:ln w="12700">
            <a:solidFill>
              <a:srgbClr val="C9DAD6"/>
            </a:solidFill>
            <a:prstDash val="solid"/>
          </a:ln>
          <a:effectLst>
            <a:outerShdw sx="100000" sy="100000" kx="0" ky="0" algn="bl" rotWithShape="0" blurRad="76200" dist="25400" dir="5400000">
              <a:srgbClr val="000000">
                <a:alpha val="12000"/>
              </a:srgbClr>
            </a:outerShdw>
          </a:effectLst>
        </p:spPr>
      </p:sp>
      <p:sp>
        <p:nvSpPr>
          <p:cNvPr id="31" name="Text 23"/>
          <p:cNvSpPr txBox="1"/>
          <p:nvPr/>
        </p:nvSpPr>
        <p:spPr>
          <a:xfrm>
            <a:off x="594360" y="3246120"/>
            <a:ext cx="2331720" cy="5029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The browser never calls the API</a:t>
            </a:r>
            <a:endParaRPr lang="en-US" sz="1400" dirty="0"/>
          </a:p>
        </p:txBody>
      </p:sp>
      <p:sp>
        <p:nvSpPr>
          <p:cNvPr id="32" name="Text 24"/>
          <p:cNvSpPr txBox="1"/>
          <p:nvPr/>
        </p:nvSpPr>
        <p:spPr>
          <a:xfrm>
            <a:off x="594360" y="379476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It posts to the Next route, which forwards the same multipart body.</a:t>
            </a:r>
            <a:endParaRPr lang="en-US" sz="1200" dirty="0"/>
          </a:p>
        </p:txBody>
      </p:sp>
      <p:sp>
        <p:nvSpPr>
          <p:cNvPr id="33" name="Note 2"/>
          <p:cNvSpPr/>
          <p:nvPr/>
        </p:nvSpPr>
        <p:spPr>
          <a:xfrm>
            <a:off x="3268980" y="3108960"/>
            <a:ext cx="2606040" cy="1463040"/>
          </a:xfrm>
          <a:prstGeom prst="roundRect">
            <a:avLst>
              <a:gd name="adj" fmla="val 5000"/>
            </a:avLst>
          </a:prstGeom>
          <a:solidFill>
            <a:schemeClr val="bg1"/>
          </a:solidFill>
          <a:ln w="12700">
            <a:solidFill>
              <a:srgbClr val="C9DAD6"/>
            </a:solidFill>
            <a:prstDash val="solid"/>
          </a:ln>
          <a:effectLst>
            <a:outerShdw sx="100000" sy="100000" kx="0" ky="0" algn="bl" rotWithShape="0" blurRad="76200" dist="25400" dir="5400000">
              <a:srgbClr val="000000">
                <a:alpha val="12000"/>
              </a:srgbClr>
            </a:outerShdw>
          </a:effectLst>
        </p:spPr>
      </p:sp>
      <p:sp>
        <p:nvSpPr>
          <p:cNvPr id="34" name="Text 26"/>
          <p:cNvSpPr txBox="1"/>
          <p:nvPr/>
        </p:nvSpPr>
        <p:spPr>
          <a:xfrm>
            <a:off x="3406140" y="3246120"/>
            <a:ext cx="2331720" cy="5029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Two interchangeable backends</a:t>
            </a:r>
            <a:endParaRPr lang="en-US" sz="1400" dirty="0"/>
          </a:p>
        </p:txBody>
      </p:sp>
      <p:sp>
        <p:nvSpPr>
          <p:cNvPr id="35" name="Text 27"/>
          <p:cNvSpPr txBox="1"/>
          <p:nvPr/>
        </p:nvSpPr>
        <p:spPr>
          <a:xfrm>
            <a:off x="3406140" y="379476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Java saves to an H2 database; Express keeps products in memory. Same endpoints.</a:t>
            </a:r>
            <a:endParaRPr lang="en-US" sz="1200" dirty="0"/>
          </a:p>
        </p:txBody>
      </p:sp>
      <p:sp>
        <p:nvSpPr>
          <p:cNvPr id="36" name="Note 3"/>
          <p:cNvSpPr/>
          <p:nvPr/>
        </p:nvSpPr>
        <p:spPr>
          <a:xfrm>
            <a:off x="6080760" y="3108960"/>
            <a:ext cx="2606040" cy="1463040"/>
          </a:xfrm>
          <a:prstGeom prst="roundRect">
            <a:avLst>
              <a:gd name="adj" fmla="val 5000"/>
            </a:avLst>
          </a:prstGeom>
          <a:solidFill>
            <a:schemeClr val="bg1"/>
          </a:solidFill>
          <a:ln w="12700">
            <a:solidFill>
              <a:srgbClr val="C9DAD6"/>
            </a:solidFill>
            <a:prstDash val="solid"/>
          </a:ln>
          <a:effectLst>
            <a:outerShdw sx="100000" sy="100000" kx="0" ky="0" algn="bl" rotWithShape="0" blurRad="76200" dist="25400" dir="5400000">
              <a:srgbClr val="000000">
                <a:alpha val="12000"/>
              </a:srgbClr>
            </a:outerShdw>
          </a:effectLst>
        </p:spPr>
      </p:sp>
      <p:sp>
        <p:nvSpPr>
          <p:cNvPr id="37" name="Text 29"/>
          <p:cNvSpPr txBox="1"/>
          <p:nvPr/>
        </p:nvSpPr>
        <p:spPr>
          <a:xfrm>
            <a:off x="6217920" y="3246120"/>
            <a:ext cx="2331720" cy="50292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One response shape</a:t>
            </a:r>
            <a:endParaRPr lang="en-US" sz="1400" dirty="0"/>
          </a:p>
        </p:txBody>
      </p:sp>
      <p:sp>
        <p:nvSpPr>
          <p:cNvPr id="38" name="Text 30"/>
          <p:cNvSpPr txBox="1"/>
          <p:nvPr/>
        </p:nvSpPr>
        <p:spPr>
          <a:xfrm>
            <a:off x="6217920" y="3794760"/>
            <a:ext cx="2331720" cy="7315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 success, id, data } comes back the same way, with every file as a URL.</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One request carries everything</a:t>
            </a:r>
            <a:endParaRPr lang="en-US" sz="3200" dirty="0"/>
          </a:p>
        </p:txBody>
      </p:sp>
      <p:sp>
        <p:nvSpPr>
          <p:cNvPr id="4" name="Part payload"/>
          <p:cNvSpPr/>
          <p:nvPr/>
        </p:nvSpPr>
        <p:spPr>
          <a:xfrm>
            <a:off x="457200" y="1188720"/>
            <a:ext cx="402336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5" name="Chip payload"/>
          <p:cNvSpPr txBox="1"/>
          <p:nvPr/>
        </p:nvSpPr>
        <p:spPr>
          <a:xfrm>
            <a:off x="640080" y="1325880"/>
            <a:ext cx="1371600" cy="256032"/>
          </a:xfrm>
          <a:prstGeom prst="roundRect">
            <a:avLst>
              <a:gd name="adj" fmla="val 42857"/>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payload</a:t>
            </a:r>
            <a:endParaRPr lang="en-US" sz="1200" dirty="0"/>
          </a:p>
        </p:txBody>
      </p:sp>
      <p:sp>
        <p:nvSpPr>
          <p:cNvPr id="6" name="Text 3"/>
          <p:cNvSpPr txBox="1"/>
          <p:nvPr/>
        </p:nvSpPr>
        <p:spPr>
          <a:xfrm>
            <a:off x="640080" y="1664208"/>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JSON text: the product fields, the image group and the PDF id or URL.</a:t>
            </a:r>
            <a:endParaRPr lang="en-US" sz="1400" dirty="0"/>
          </a:p>
        </p:txBody>
      </p:sp>
      <p:sp>
        <p:nvSpPr>
          <p:cNvPr id="7" name="Part productImage"/>
          <p:cNvSpPr/>
          <p:nvPr/>
        </p:nvSpPr>
        <p:spPr>
          <a:xfrm>
            <a:off x="457200" y="2359152"/>
            <a:ext cx="402336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8" name="Chip productImage"/>
          <p:cNvSpPr txBox="1"/>
          <p:nvPr/>
        </p:nvSpPr>
        <p:spPr>
          <a:xfrm>
            <a:off x="640080" y="2496312"/>
            <a:ext cx="1371600" cy="256032"/>
          </a:xfrm>
          <a:prstGeom prst="roundRect">
            <a:avLst>
              <a:gd name="adj" fmla="val 42857"/>
            </a:avLst>
          </a:prstGeom>
          <a:solidFill>
            <a:schemeClr val="accent2"/>
          </a:solid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productImage</a:t>
            </a:r>
            <a:endParaRPr lang="en-US" sz="1200" dirty="0"/>
          </a:p>
        </p:txBody>
      </p:sp>
      <p:sp>
        <p:nvSpPr>
          <p:cNvPr id="9" name="Text 6"/>
          <p:cNvSpPr txBox="1"/>
          <p:nvPr/>
        </p:nvSpPr>
        <p:spPr>
          <a:xfrm>
            <a:off x="640080" y="2834640"/>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file part per NEW image. Its filename is the image id.</a:t>
            </a:r>
            <a:endParaRPr lang="en-US" sz="1400" dirty="0"/>
          </a:p>
        </p:txBody>
      </p:sp>
      <p:sp>
        <p:nvSpPr>
          <p:cNvPr id="10" name="Part productPdf"/>
          <p:cNvSpPr/>
          <p:nvPr/>
        </p:nvSpPr>
        <p:spPr>
          <a:xfrm>
            <a:off x="457200" y="3529584"/>
            <a:ext cx="402336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11" name="Chip productPdf"/>
          <p:cNvSpPr txBox="1"/>
          <p:nvPr/>
        </p:nvSpPr>
        <p:spPr>
          <a:xfrm>
            <a:off x="640080" y="3666744"/>
            <a:ext cx="1371600" cy="256032"/>
          </a:xfrm>
          <a:prstGeom prst="roundRect">
            <a:avLst>
              <a:gd name="adj" fmla="val 42857"/>
            </a:avLst>
          </a:prstGeom>
          <a:solidFill>
            <a:schemeClr val="accent2"/>
          </a:solid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productPdf</a:t>
            </a:r>
            <a:endParaRPr lang="en-US" sz="1200" dirty="0"/>
          </a:p>
        </p:txBody>
      </p:sp>
      <p:sp>
        <p:nvSpPr>
          <p:cNvPr id="12" name="Text 9"/>
          <p:cNvSpPr txBox="1"/>
          <p:nvPr/>
        </p:nvSpPr>
        <p:spPr>
          <a:xfrm>
            <a:off x="640080" y="4005072"/>
            <a:ext cx="365760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Optional single PDF. Its filename is the PDF id.</a:t>
            </a:r>
            <a:endParaRPr lang="en-US" sz="1400" dirty="0"/>
          </a:p>
        </p:txBody>
      </p:sp>
      <p:sp>
        <p:nvSpPr>
          <p:cNvPr id="13" name="Code box"/>
          <p:cNvSpPr/>
          <p:nvPr/>
        </p:nvSpPr>
        <p:spPr>
          <a:xfrm>
            <a:off x="4709160" y="1188720"/>
            <a:ext cx="3977640" cy="3429000"/>
          </a:xfrm>
          <a:prstGeom prst="roundRect">
            <a:avLst>
              <a:gd name="adj" fmla="val 2133"/>
            </a:avLst>
          </a:prstGeom>
          <a:solidFill>
            <a:schemeClr val="tx2"/>
          </a:solidFill>
          <a:ln/>
          <a:effectLst>
            <a:outerShdw sx="100000" sy="100000" kx="0" ky="0" algn="bl" rotWithShape="0" blurRad="76200" dist="25400" dir="5400000">
              <a:srgbClr val="000000">
                <a:alpha val="12000"/>
              </a:srgbClr>
            </a:outerShdw>
          </a:effectLst>
        </p:spPr>
      </p:sp>
      <p:sp>
        <p:nvSpPr>
          <p:cNvPr id="14" name="Text 11"/>
          <p:cNvSpPr txBox="1"/>
          <p:nvPr/>
        </p:nvSpPr>
        <p:spPr>
          <a:xfrm>
            <a:off x="4846320" y="1298448"/>
            <a:ext cx="3703320" cy="3209544"/>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POST /api/product-demo</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Content-Type: multipart/form-data</a:t>
            </a:r>
            <a:endParaRPr lang="en-US" sz="1100" dirty="0"/>
          </a:p>
          <a:p>
            <a:pPr indent="0" marL="0">
              <a:buNone/>
            </a:pP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payload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"category": "SampleCategory",</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"product":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"ssrCode": "SAMPLE", "price": 500,</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"productImage":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 "image": "product-image-1",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"description": "Front view" }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"productPdf": "product-pdf" } }</a:t>
            </a:r>
            <a:endParaRPr lang="en-US" sz="1100" dirty="0"/>
          </a:p>
          <a:p>
            <a:pPr indent="0" marL="0">
              <a:buNone/>
            </a:pP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productImage  filename="product-image-1"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&lt;bytes of the image&gt;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productPdf    filename="product-pdf"</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&lt;bytes of the PDF&gt;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Ids tie files to the payload</a:t>
            </a:r>
            <a:endParaRPr lang="en-US" sz="3200" dirty="0"/>
          </a:p>
        </p:txBody>
      </p:sp>
      <p:sp>
        <p:nvSpPr>
          <p:cNvPr id="4" name="NEW image"/>
          <p:cNvSpPr/>
          <p:nvPr/>
        </p:nvSpPr>
        <p:spPr>
          <a:xfrm>
            <a:off x="457200" y="1188720"/>
            <a:ext cx="2606040" cy="3017520"/>
          </a:xfrm>
          <a:prstGeom prst="roundRect">
            <a:avLst>
              <a:gd name="adj" fmla="val 2807"/>
            </a:avLst>
          </a:prstGeom>
          <a:solidFill>
            <a:schemeClr val="bg2"/>
          </a:solidFill>
          <a:ln/>
          <a:effectLst>
            <a:outerShdw sx="100000" sy="100000" kx="0" ky="0" algn="bl" rotWithShape="0" blurRad="76200" dist="25400" dir="5400000">
              <a:srgbClr val="000000">
                <a:alpha val="12000"/>
              </a:srgbClr>
            </a:outerShdw>
          </a:effectLst>
        </p:spPr>
      </p:sp>
      <p:sp>
        <p:nvSpPr>
          <p:cNvPr id="5" name="Chip NEW image"/>
          <p:cNvSpPr txBox="1"/>
          <p:nvPr/>
        </p:nvSpPr>
        <p:spPr>
          <a:xfrm>
            <a:off x="594360" y="1325880"/>
            <a:ext cx="233172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NEW image</a:t>
            </a:r>
            <a:endParaRPr lang="en-US" sz="1200" dirty="0"/>
          </a:p>
        </p:txBody>
      </p:sp>
      <p:sp>
        <p:nvSpPr>
          <p:cNvPr id="6" name="Text 3"/>
          <p:cNvSpPr txBox="1"/>
          <p:nvPr/>
        </p:nvSpPr>
        <p:spPr>
          <a:xfrm>
            <a:off x="594360" y="173736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In the payload</a:t>
            </a:r>
            <a:endParaRPr lang="en-US" sz="1200" dirty="0"/>
          </a:p>
        </p:txBody>
      </p:sp>
      <p:sp>
        <p:nvSpPr>
          <p:cNvPr id="7" name="Text 4"/>
          <p:cNvSpPr txBox="1"/>
          <p:nvPr/>
        </p:nvSpPr>
        <p:spPr>
          <a:xfrm>
            <a:off x="594360" y="1965960"/>
            <a:ext cx="2331720" cy="5486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"image": "product-image-2"</a:t>
            </a:r>
            <a:endParaRPr lang="en-US" sz="1100" dirty="0"/>
          </a:p>
        </p:txBody>
      </p:sp>
      <p:sp>
        <p:nvSpPr>
          <p:cNvPr id="8" name="Text 5"/>
          <p:cNvSpPr txBox="1"/>
          <p:nvPr/>
        </p:nvSpPr>
        <p:spPr>
          <a:xfrm>
            <a:off x="594360" y="25603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File part</a:t>
            </a:r>
            <a:endParaRPr lang="en-US" sz="1200" dirty="0"/>
          </a:p>
        </p:txBody>
      </p:sp>
      <p:sp>
        <p:nvSpPr>
          <p:cNvPr id="9" name="Text 6"/>
          <p:cNvSpPr txBox="1"/>
          <p:nvPr/>
        </p:nvSpPr>
        <p:spPr>
          <a:xfrm>
            <a:off x="594360" y="2788920"/>
            <a:ext cx="233172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Yes, filename = "product-image-2"</a:t>
            </a:r>
            <a:endParaRPr lang="en-US" sz="1300" dirty="0"/>
          </a:p>
        </p:txBody>
      </p:sp>
      <p:sp>
        <p:nvSpPr>
          <p:cNvPr id="10" name="Text 7"/>
          <p:cNvSpPr txBox="1"/>
          <p:nvPr/>
        </p:nvSpPr>
        <p:spPr>
          <a:xfrm>
            <a:off x="594360" y="32461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Backend</a:t>
            </a:r>
            <a:endParaRPr lang="en-US" sz="1200" dirty="0"/>
          </a:p>
        </p:txBody>
      </p:sp>
      <p:sp>
        <p:nvSpPr>
          <p:cNvPr id="11" name="Text 8"/>
          <p:cNvSpPr txBox="1"/>
          <p:nvPr/>
        </p:nvSpPr>
        <p:spPr>
          <a:xfrm>
            <a:off x="594360" y="3474720"/>
            <a:ext cx="233172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Stores the file and swaps the id for its URL.</a:t>
            </a:r>
            <a:endParaRPr lang="en-US" sz="1300" dirty="0"/>
          </a:p>
        </p:txBody>
      </p:sp>
      <p:sp>
        <p:nvSpPr>
          <p:cNvPr id="12" name="KEPT image (update)"/>
          <p:cNvSpPr/>
          <p:nvPr/>
        </p:nvSpPr>
        <p:spPr>
          <a:xfrm>
            <a:off x="3268980" y="1188720"/>
            <a:ext cx="2606040" cy="3017520"/>
          </a:xfrm>
          <a:prstGeom prst="roundRect">
            <a:avLst>
              <a:gd name="adj" fmla="val 2807"/>
            </a:avLst>
          </a:prstGeom>
          <a:solidFill>
            <a:schemeClr val="bg2"/>
          </a:solidFill>
          <a:ln/>
          <a:effectLst>
            <a:outerShdw sx="100000" sy="100000" kx="0" ky="0" algn="bl" rotWithShape="0" blurRad="76200" dist="25400" dir="5400000">
              <a:srgbClr val="000000">
                <a:alpha val="12000"/>
              </a:srgbClr>
            </a:outerShdw>
          </a:effectLst>
        </p:spPr>
      </p:sp>
      <p:sp>
        <p:nvSpPr>
          <p:cNvPr id="13" name="Chip KEPT image (update)"/>
          <p:cNvSpPr txBox="1"/>
          <p:nvPr/>
        </p:nvSpPr>
        <p:spPr>
          <a:xfrm>
            <a:off x="3406140" y="1325880"/>
            <a:ext cx="2331720" cy="292608"/>
          </a:xfrm>
          <a:prstGeom prst="roundRect">
            <a:avLst>
              <a:gd name="adj" fmla="val 37500"/>
            </a:avLst>
          </a:prstGeom>
          <a:solidFill>
            <a:schemeClr val="accent4"/>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KEPT image (update)</a:t>
            </a:r>
            <a:endParaRPr lang="en-US" sz="1200" dirty="0"/>
          </a:p>
        </p:txBody>
      </p:sp>
      <p:sp>
        <p:nvSpPr>
          <p:cNvPr id="14" name="Text 11"/>
          <p:cNvSpPr txBox="1"/>
          <p:nvPr/>
        </p:nvSpPr>
        <p:spPr>
          <a:xfrm>
            <a:off x="3406140" y="173736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In the payload</a:t>
            </a:r>
            <a:endParaRPr lang="en-US" sz="1200" dirty="0"/>
          </a:p>
        </p:txBody>
      </p:sp>
      <p:sp>
        <p:nvSpPr>
          <p:cNvPr id="15" name="Text 12"/>
          <p:cNvSpPr txBox="1"/>
          <p:nvPr/>
        </p:nvSpPr>
        <p:spPr>
          <a:xfrm>
            <a:off x="3406140" y="1965960"/>
            <a:ext cx="2331720" cy="5486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"image": "http://…/uploads/product-image-1-ab12.jpg"</a:t>
            </a:r>
            <a:endParaRPr lang="en-US" sz="1100" dirty="0"/>
          </a:p>
        </p:txBody>
      </p:sp>
      <p:sp>
        <p:nvSpPr>
          <p:cNvPr id="16" name="Text 13"/>
          <p:cNvSpPr txBox="1"/>
          <p:nvPr/>
        </p:nvSpPr>
        <p:spPr>
          <a:xfrm>
            <a:off x="3406140" y="25603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File part</a:t>
            </a:r>
            <a:endParaRPr lang="en-US" sz="1200" dirty="0"/>
          </a:p>
        </p:txBody>
      </p:sp>
      <p:sp>
        <p:nvSpPr>
          <p:cNvPr id="17" name="Text 14"/>
          <p:cNvSpPr txBox="1"/>
          <p:nvPr/>
        </p:nvSpPr>
        <p:spPr>
          <a:xfrm>
            <a:off x="3406140" y="2788920"/>
            <a:ext cx="233172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None. Nothing is re-uploaded.</a:t>
            </a:r>
            <a:endParaRPr lang="en-US" sz="1300" dirty="0"/>
          </a:p>
        </p:txBody>
      </p:sp>
      <p:sp>
        <p:nvSpPr>
          <p:cNvPr id="18" name="Text 15"/>
          <p:cNvSpPr txBox="1"/>
          <p:nvPr/>
        </p:nvSpPr>
        <p:spPr>
          <a:xfrm>
            <a:off x="3406140" y="32461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Backend</a:t>
            </a:r>
            <a:endParaRPr lang="en-US" sz="1200" dirty="0"/>
          </a:p>
        </p:txBody>
      </p:sp>
      <p:sp>
        <p:nvSpPr>
          <p:cNvPr id="19" name="Text 16"/>
          <p:cNvSpPr txBox="1"/>
          <p:nvPr/>
        </p:nvSpPr>
        <p:spPr>
          <a:xfrm>
            <a:off x="3406140" y="3474720"/>
            <a:ext cx="233172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Leaves the stored image exactly as it is.</a:t>
            </a:r>
            <a:endParaRPr lang="en-US" sz="1300" dirty="0"/>
          </a:p>
        </p:txBody>
      </p:sp>
      <p:sp>
        <p:nvSpPr>
          <p:cNvPr id="20" name="REMOVED image (update)"/>
          <p:cNvSpPr/>
          <p:nvPr/>
        </p:nvSpPr>
        <p:spPr>
          <a:xfrm>
            <a:off x="6080760" y="1188720"/>
            <a:ext cx="2606040" cy="3017520"/>
          </a:xfrm>
          <a:prstGeom prst="roundRect">
            <a:avLst>
              <a:gd name="adj" fmla="val 2807"/>
            </a:avLst>
          </a:prstGeom>
          <a:solidFill>
            <a:schemeClr val="bg2"/>
          </a:solidFill>
          <a:ln/>
          <a:effectLst>
            <a:outerShdw sx="100000" sy="100000" kx="0" ky="0" algn="bl" rotWithShape="0" blurRad="76200" dist="25400" dir="5400000">
              <a:srgbClr val="000000">
                <a:alpha val="12000"/>
              </a:srgbClr>
            </a:outerShdw>
          </a:effectLst>
        </p:spPr>
      </p:sp>
      <p:sp>
        <p:nvSpPr>
          <p:cNvPr id="21" name="Chip REMOVED image (update)"/>
          <p:cNvSpPr txBox="1"/>
          <p:nvPr/>
        </p:nvSpPr>
        <p:spPr>
          <a:xfrm>
            <a:off x="6217920" y="1325880"/>
            <a:ext cx="2331720" cy="292608"/>
          </a:xfrm>
          <a:prstGeom prst="roundRect">
            <a:avLst>
              <a:gd name="adj" fmla="val 37500"/>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REMOVED image (update)</a:t>
            </a:r>
            <a:endParaRPr lang="en-US" sz="1200" dirty="0"/>
          </a:p>
        </p:txBody>
      </p:sp>
      <p:sp>
        <p:nvSpPr>
          <p:cNvPr id="22" name="Text 19"/>
          <p:cNvSpPr txBox="1"/>
          <p:nvPr/>
        </p:nvSpPr>
        <p:spPr>
          <a:xfrm>
            <a:off x="6217920" y="173736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In the payload</a:t>
            </a:r>
            <a:endParaRPr lang="en-US" sz="1200" dirty="0"/>
          </a:p>
        </p:txBody>
      </p:sp>
      <p:sp>
        <p:nvSpPr>
          <p:cNvPr id="23" name="Text 20"/>
          <p:cNvSpPr txBox="1"/>
          <p:nvPr/>
        </p:nvSpPr>
        <p:spPr>
          <a:xfrm>
            <a:off x="6217920" y="1965960"/>
            <a:ext cx="2331720" cy="5486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Not listed at all</a:t>
            </a:r>
            <a:endParaRPr lang="en-US" sz="1100" dirty="0"/>
          </a:p>
        </p:txBody>
      </p:sp>
      <p:sp>
        <p:nvSpPr>
          <p:cNvPr id="24" name="Text 21"/>
          <p:cNvSpPr txBox="1"/>
          <p:nvPr/>
        </p:nvSpPr>
        <p:spPr>
          <a:xfrm>
            <a:off x="6217920" y="25603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File part</a:t>
            </a:r>
            <a:endParaRPr lang="en-US" sz="1200" dirty="0"/>
          </a:p>
        </p:txBody>
      </p:sp>
      <p:sp>
        <p:nvSpPr>
          <p:cNvPr id="25" name="Text 22"/>
          <p:cNvSpPr txBox="1"/>
          <p:nvPr/>
        </p:nvSpPr>
        <p:spPr>
          <a:xfrm>
            <a:off x="6217920" y="2788920"/>
            <a:ext cx="2331720" cy="4572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p>
        </p:txBody>
      </p:sp>
      <p:sp>
        <p:nvSpPr>
          <p:cNvPr id="26" name="Text 23"/>
          <p:cNvSpPr txBox="1"/>
          <p:nvPr/>
        </p:nvSpPr>
        <p:spPr>
          <a:xfrm>
            <a:off x="6217920" y="3246120"/>
            <a:ext cx="23317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Backend</a:t>
            </a:r>
            <a:endParaRPr lang="en-US" sz="1200" dirty="0"/>
          </a:p>
        </p:txBody>
      </p:sp>
      <p:sp>
        <p:nvSpPr>
          <p:cNvPr id="27" name="Text 24"/>
          <p:cNvSpPr txBox="1"/>
          <p:nvPr/>
        </p:nvSpPr>
        <p:spPr>
          <a:xfrm>
            <a:off x="6217920" y="3474720"/>
            <a:ext cx="2331720"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Found by comparing with the stored rows. Its row and file are deleted.</a:t>
            </a:r>
            <a:endParaRPr lang="en-US" sz="1300" dirty="0"/>
          </a:p>
        </p:txBody>
      </p:sp>
      <p:sp>
        <p:nvSpPr>
          <p:cNvPr id="28" name="Text 25"/>
          <p:cNvSpPr txBox="1"/>
          <p:nvPr/>
        </p:nvSpPr>
        <p:spPr>
          <a:xfrm>
            <a:off x="457200" y="4334256"/>
            <a:ext cx="8229600" cy="36576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Order never matters, ids do. </a:t>
            </a:r>
            <a:pPr indent="0" marL="0">
              <a:buNone/>
            </a:pPr>
            <a:r>
              <a:rPr lang="en-US" sz="1400" dirty="0">
                <a:solidFill>
                  <a:schemeClr val="tx1"/>
                </a:solidFill>
                <a:latin typeface="Calibri" pitchFamily="34" charset="0"/>
                <a:ea typeface="Calibri" pitchFamily="34" charset="-122"/>
                <a:cs typeface="Calibri" pitchFamily="34" charset="-120"/>
              </a:rPr>
              <a:t>The same picture added twice is two ids, two files and two images.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Where the data is saved</a:t>
            </a:r>
            <a:endParaRPr lang="en-US" sz="3200" dirty="0"/>
          </a:p>
        </p:txBody>
      </p:sp>
      <p:sp>
        <p:nvSpPr>
          <p:cNvPr id="4" name="product table"/>
          <p:cNvSpPr/>
          <p:nvPr/>
        </p:nvSpPr>
        <p:spPr>
          <a:xfrm>
            <a:off x="457200" y="1188720"/>
            <a:ext cx="3291840" cy="2148840"/>
          </a:xfrm>
          <a:prstGeom prst="roundRect">
            <a:avLst>
              <a:gd name="adj" fmla="val 3404"/>
            </a:avLst>
          </a:prstGeom>
          <a:solidFill>
            <a:schemeClr val="bg2"/>
          </a:solidFill>
          <a:ln/>
          <a:effectLst>
            <a:outerShdw sx="100000" sy="100000" kx="0" ky="0" algn="bl" rotWithShape="0" blurRad="76200" dist="25400" dir="5400000">
              <a:srgbClr val="000000">
                <a:alpha val="12000"/>
              </a:srgbClr>
            </a:outerShdw>
          </a:effectLst>
        </p:spPr>
      </p:sp>
      <p:sp>
        <p:nvSpPr>
          <p:cNvPr id="5" name="Chip product"/>
          <p:cNvSpPr txBox="1"/>
          <p:nvPr/>
        </p:nvSpPr>
        <p:spPr>
          <a:xfrm>
            <a:off x="594360" y="1325880"/>
            <a:ext cx="1188720" cy="256032"/>
          </a:xfrm>
          <a:prstGeom prst="roundRect">
            <a:avLst>
              <a:gd name="adj" fmla="val 42857"/>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product</a:t>
            </a:r>
            <a:endParaRPr lang="en-US" sz="1200" dirty="0"/>
          </a:p>
        </p:txBody>
      </p:sp>
      <p:sp>
        <p:nvSpPr>
          <p:cNvPr id="6" name="Text 3"/>
          <p:cNvSpPr txBox="1"/>
          <p:nvPr/>
        </p:nvSpPr>
        <p:spPr>
          <a:xfrm>
            <a:off x="594360" y="1737360"/>
            <a:ext cx="3017520" cy="15087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id</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category · ssr_code · price</a:t>
            </a:r>
            <a:endParaRPr lang="en-US" sz="1400" dirty="0"/>
          </a:p>
          <a:p>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pdf_url</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details (rest of the product JSON)</a:t>
            </a:r>
            <a:endParaRPr lang="en-US" sz="1400" dirty="0"/>
          </a:p>
        </p:txBody>
      </p:sp>
      <p:sp>
        <p:nvSpPr>
          <p:cNvPr id="7" name="product_image table"/>
          <p:cNvSpPr/>
          <p:nvPr/>
        </p:nvSpPr>
        <p:spPr>
          <a:xfrm>
            <a:off x="4572000" y="1188720"/>
            <a:ext cx="4114800" cy="2148840"/>
          </a:xfrm>
          <a:prstGeom prst="roundRect">
            <a:avLst>
              <a:gd name="adj" fmla="val 3404"/>
            </a:avLst>
          </a:prstGeom>
          <a:solidFill>
            <a:schemeClr val="bg2"/>
          </a:solidFill>
          <a:ln/>
          <a:effectLst>
            <a:outerShdw sx="100000" sy="100000" kx="0" ky="0" algn="bl" rotWithShape="0" blurRad="76200" dist="25400" dir="5400000">
              <a:srgbClr val="000000">
                <a:alpha val="12000"/>
              </a:srgbClr>
            </a:outerShdw>
          </a:effectLst>
        </p:spPr>
      </p:sp>
      <p:sp>
        <p:nvSpPr>
          <p:cNvPr id="8" name="Chip product_image"/>
          <p:cNvSpPr txBox="1"/>
          <p:nvPr/>
        </p:nvSpPr>
        <p:spPr>
          <a:xfrm>
            <a:off x="4709160" y="1325880"/>
            <a:ext cx="1554480" cy="256032"/>
          </a:xfrm>
          <a:prstGeom prst="roundRect">
            <a:avLst>
              <a:gd name="adj" fmla="val 42857"/>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product_image</a:t>
            </a:r>
            <a:endParaRPr lang="en-US" sz="1200" dirty="0"/>
          </a:p>
        </p:txBody>
      </p:sp>
      <p:sp>
        <p:nvSpPr>
          <p:cNvPr id="9" name="Text 6"/>
          <p:cNvSpPr txBox="1"/>
          <p:nvPr/>
        </p:nvSpPr>
        <p:spPr>
          <a:xfrm>
            <a:off x="4709160" y="1737360"/>
            <a:ext cx="3840480" cy="15087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id</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product_id  (points to product.id)</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position  (0, 1, 2 … display order)</a:t>
            </a:r>
            <a:endParaRPr lang="en-US" sz="14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url  ·  description</a:t>
            </a:r>
            <a:endParaRPr lang="en-US" sz="1400" dirty="0"/>
          </a:p>
        </p:txBody>
      </p:sp>
      <p:sp>
        <p:nvSpPr>
          <p:cNvPr id="10" name="Arrow"/>
          <p:cNvSpPr/>
          <p:nvPr/>
        </p:nvSpPr>
        <p:spPr>
          <a:xfrm>
            <a:off x="3794760" y="2240280"/>
            <a:ext cx="731520" cy="0"/>
          </a:xfrm>
          <a:prstGeom prst="line">
            <a:avLst/>
          </a:prstGeom>
          <a:noFill/>
          <a:ln w="25400">
            <a:solidFill>
              <a:schemeClr val="accent5"/>
            </a:solidFill>
            <a:prstDash val="solid"/>
            <a:tailEnd type="triangle"/>
          </a:ln>
        </p:spPr>
      </p:sp>
      <p:sp>
        <p:nvSpPr>
          <p:cNvPr id="11" name="Chip 1 : many"/>
          <p:cNvSpPr txBox="1"/>
          <p:nvPr/>
        </p:nvSpPr>
        <p:spPr>
          <a:xfrm>
            <a:off x="3749040" y="1828800"/>
            <a:ext cx="822960" cy="256032"/>
          </a:xfrm>
          <a:prstGeom prst="roundRect">
            <a:avLst>
              <a:gd name="adj" fmla="val 42857"/>
            </a:avLst>
          </a:prstGeom>
          <a:solidFill>
            <a:schemeClr val="accent5"/>
          </a:solid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1 : many</a:t>
            </a:r>
            <a:endParaRPr lang="en-US" sz="1100" dirty="0"/>
          </a:p>
        </p:txBody>
      </p:sp>
      <p:sp>
        <p:nvSpPr>
          <p:cNvPr id="12" name="uploads folder"/>
          <p:cNvSpPr/>
          <p:nvPr/>
        </p:nvSpPr>
        <p:spPr>
          <a:xfrm>
            <a:off x="457200" y="3566160"/>
            <a:ext cx="8229600" cy="1051560"/>
          </a:xfrm>
          <a:prstGeom prst="roundRect">
            <a:avLst>
              <a:gd name="adj" fmla="val 6957"/>
            </a:avLst>
          </a:prstGeom>
          <a:solidFill>
            <a:schemeClr val="bg1"/>
          </a:solidFill>
          <a:ln w="12700">
            <a:solidFill>
              <a:srgbClr val="C9DAD6"/>
            </a:solidFill>
            <a:prstDash val="solid"/>
          </a:ln>
          <a:effectLst>
            <a:outerShdw sx="100000" sy="100000" kx="0" ky="0" algn="bl" rotWithShape="0" blurRad="76200" dist="25400" dir="5400000">
              <a:srgbClr val="000000">
                <a:alpha val="12000"/>
              </a:srgbClr>
            </a:outerShdw>
          </a:effectLst>
        </p:spPr>
      </p:sp>
      <p:sp>
        <p:nvSpPr>
          <p:cNvPr id="13" name="Uploads folder circle"/>
          <p:cNvSpPr/>
          <p:nvPr/>
        </p:nvSpPr>
        <p:spPr>
          <a:xfrm>
            <a:off x="640080" y="3767328"/>
            <a:ext cx="640080" cy="640080"/>
          </a:xfrm>
          <a:prstGeom prst="ellipse">
            <a:avLst/>
          </a:prstGeom>
          <a:solidFill>
            <a:schemeClr val="accent2"/>
          </a:solidFill>
          <a:ln/>
        </p:spPr>
      </p:sp>
      <p:pic>
        <p:nvPicPr>
          <p:cNvPr id="14" name="Image 0" descr="Uploads folder">    </p:cNvPr>
          <p:cNvPicPr>
            <a:picLocks noChangeAspect="1"/>
          </p:cNvPicPr>
          <p:nvPr/>
        </p:nvPicPr>
        <p:blipFill>
          <a:blip r:embed="rId1"/>
          <a:stretch>
            <a:fillRect/>
          </a:stretch>
        </p:blipFill>
        <p:spPr>
          <a:xfrm>
            <a:off x="800100" y="3927348"/>
            <a:ext cx="320040" cy="320040"/>
          </a:xfrm>
          <a:prstGeom prst="rect">
            <a:avLst/>
          </a:prstGeom>
        </p:spPr>
      </p:pic>
      <p:sp>
        <p:nvSpPr>
          <p:cNvPr id="15" name="Text 11"/>
          <p:cNvSpPr txBox="1"/>
          <p:nvPr/>
        </p:nvSpPr>
        <p:spPr>
          <a:xfrm>
            <a:off x="1463040" y="3703320"/>
            <a:ext cx="7040880" cy="8229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uploads/ folder holds the bytes</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Files are named &lt;id&gt;-&lt;random&gt;.&lt;ext&gt;, for example product-image-1-ab12cd34.jpg. The database keeps only their URLs.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Add a product</a:t>
            </a:r>
            <a:endParaRPr lang="en-US" sz="4000" dirty="0"/>
          </a:p>
        </p:txBody>
      </p:sp>
      <p:sp>
        <p:nvSpPr>
          <p:cNvPr id="3" name="Text 0"/>
          <p:cNvSpPr/>
          <p:nvPr>
            <p:ph idx="101" type="body" hasCustomPrompt="1"/>
          </p:nvPr>
        </p:nvSpPr>
        <p:spPr>
          <a:xfrm>
            <a:off x="640080" y="2468880"/>
            <a:ext cx="7863840" cy="82296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POST /demo/products  ·  creates the product and returns its id</a:t>
            </a:r>
            <a:endParaRPr lang="en-US" sz="2000" dirty="0"/>
          </a:p>
        </p:txBody>
      </p:sp>
      <p:sp>
        <p:nvSpPr>
          <p:cNvPr id="5" name="Add circle"/>
          <p:cNvSpPr/>
          <p:nvPr/>
        </p:nvSpPr>
        <p:spPr>
          <a:xfrm>
            <a:off x="640080" y="3657600"/>
            <a:ext cx="822960" cy="822960"/>
          </a:xfrm>
          <a:prstGeom prst="ellipse">
            <a:avLst/>
          </a:prstGeom>
          <a:solidFill>
            <a:schemeClr val="accent2"/>
          </a:solidFill>
          <a:ln/>
        </p:spPr>
      </p:sp>
      <p:pic>
        <p:nvPicPr>
          <p:cNvPr id="6" name="Image 0" descr="Add">    </p:cNvPr>
          <p:cNvPicPr>
            <a:picLocks noChangeAspect="1"/>
          </p:cNvPicPr>
          <p:nvPr/>
        </p:nvPicPr>
        <p:blipFill>
          <a:blip r:embed="rId1"/>
          <a:stretch>
            <a:fillRect/>
          </a:stretch>
        </p:blipFill>
        <p:spPr>
          <a:xfrm>
            <a:off x="845820" y="3863340"/>
            <a:ext cx="411480" cy="411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Add: what the UI sends</a:t>
            </a:r>
            <a:endParaRPr lang="en-US" sz="3200" dirty="0"/>
          </a:p>
        </p:txBody>
      </p:sp>
      <p:sp>
        <p:nvSpPr>
          <p:cNvPr id="4" name="Step 1"/>
          <p:cNvSpPr txBox="1"/>
          <p:nvPr/>
        </p:nvSpPr>
        <p:spPr>
          <a:xfrm>
            <a:off x="457200" y="123444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Text 2"/>
          <p:cNvSpPr txBox="1"/>
          <p:nvPr/>
        </p:nvSpPr>
        <p:spPr>
          <a:xfrm>
            <a:off x="1005840" y="1216152"/>
            <a:ext cx="35661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Fill in the product fields</a:t>
            </a:r>
            <a:endParaRPr lang="en-US" sz="1500" dirty="0"/>
          </a:p>
        </p:txBody>
      </p:sp>
      <p:sp>
        <p:nvSpPr>
          <p:cNvPr id="6" name="Text 3"/>
          <p:cNvSpPr txBox="1"/>
          <p:nvPr/>
        </p:nvSpPr>
        <p:spPr>
          <a:xfrm>
            <a:off x="1005840" y="1508760"/>
            <a:ext cx="3566160" cy="5029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Name, price, dates and the rest.</a:t>
            </a:r>
            <a:endParaRPr lang="en-US" sz="1300" dirty="0"/>
          </a:p>
        </p:txBody>
      </p:sp>
      <p:sp>
        <p:nvSpPr>
          <p:cNvPr id="7" name="Step 2"/>
          <p:cNvSpPr txBox="1"/>
          <p:nvPr/>
        </p:nvSpPr>
        <p:spPr>
          <a:xfrm>
            <a:off x="457200" y="21031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Text 5"/>
          <p:cNvSpPr txBox="1"/>
          <p:nvPr/>
        </p:nvSpPr>
        <p:spPr>
          <a:xfrm>
            <a:off x="1005840" y="2084832"/>
            <a:ext cx="35661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Click Add item for each image</a:t>
            </a:r>
            <a:endParaRPr lang="en-US" sz="1500" dirty="0"/>
          </a:p>
        </p:txBody>
      </p:sp>
      <p:sp>
        <p:nvSpPr>
          <p:cNvPr id="9" name="Text 6"/>
          <p:cNvSpPr txBox="1"/>
          <p:nvPr/>
        </p:nvSpPr>
        <p:spPr>
          <a:xfrm>
            <a:off x="1005840" y="2377440"/>
            <a:ext cx="3566160" cy="5029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Pick a file and write a description. Each item gets an id from its position.</a:t>
            </a:r>
            <a:endParaRPr lang="en-US" sz="1300" dirty="0"/>
          </a:p>
        </p:txBody>
      </p:sp>
      <p:sp>
        <p:nvSpPr>
          <p:cNvPr id="10" name="Step 3"/>
          <p:cNvSpPr txBox="1"/>
          <p:nvPr/>
        </p:nvSpPr>
        <p:spPr>
          <a:xfrm>
            <a:off x="457200" y="29718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1" name="Text 8"/>
          <p:cNvSpPr txBox="1"/>
          <p:nvPr/>
        </p:nvSpPr>
        <p:spPr>
          <a:xfrm>
            <a:off x="1005840" y="2953512"/>
            <a:ext cx="35661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Optionally choose a PDF</a:t>
            </a:r>
            <a:endParaRPr lang="en-US" sz="1500" dirty="0"/>
          </a:p>
        </p:txBody>
      </p:sp>
      <p:sp>
        <p:nvSpPr>
          <p:cNvPr id="12" name="Text 9"/>
          <p:cNvSpPr txBox="1"/>
          <p:nvPr/>
        </p:nvSpPr>
        <p:spPr>
          <a:xfrm>
            <a:off x="1005840" y="3246120"/>
            <a:ext cx="3566160" cy="5029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It gets the id product-pdf.</a:t>
            </a:r>
            <a:endParaRPr lang="en-US" sz="1300" dirty="0"/>
          </a:p>
        </p:txBody>
      </p:sp>
      <p:sp>
        <p:nvSpPr>
          <p:cNvPr id="13" name="Step 4"/>
          <p:cNvSpPr txBox="1"/>
          <p:nvPr/>
        </p:nvSpPr>
        <p:spPr>
          <a:xfrm>
            <a:off x="457200" y="38404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4" name="Text 11"/>
          <p:cNvSpPr txBox="1"/>
          <p:nvPr/>
        </p:nvSpPr>
        <p:spPr>
          <a:xfrm>
            <a:off x="1005840" y="3822192"/>
            <a:ext cx="3566160"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Press Submit</a:t>
            </a:r>
            <a:endParaRPr lang="en-US" sz="1500" dirty="0"/>
          </a:p>
        </p:txBody>
      </p:sp>
      <p:sp>
        <p:nvSpPr>
          <p:cNvPr id="15" name="Text 12"/>
          <p:cNvSpPr txBox="1"/>
          <p:nvPr/>
        </p:nvSpPr>
        <p:spPr>
          <a:xfrm>
            <a:off x="1005840" y="4114800"/>
            <a:ext cx="3566160" cy="5029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The form posts one multipart request to /api/product-demo.</a:t>
            </a:r>
            <a:endParaRPr lang="en-US" sz="1300" dirty="0"/>
          </a:p>
        </p:txBody>
      </p:sp>
      <p:sp>
        <p:nvSpPr>
          <p:cNvPr id="16" name="Code box"/>
          <p:cNvSpPr/>
          <p:nvPr/>
        </p:nvSpPr>
        <p:spPr>
          <a:xfrm>
            <a:off x="4846320" y="1234440"/>
            <a:ext cx="3840480" cy="2743200"/>
          </a:xfrm>
          <a:prstGeom prst="roundRect">
            <a:avLst>
              <a:gd name="adj" fmla="val 2667"/>
            </a:avLst>
          </a:prstGeom>
          <a:solidFill>
            <a:schemeClr val="tx2"/>
          </a:solidFill>
          <a:ln/>
          <a:effectLst>
            <a:outerShdw sx="100000" sy="100000" kx="0" ky="0" algn="bl" rotWithShape="0" blurRad="76200" dist="25400" dir="5400000">
              <a:srgbClr val="000000">
                <a:alpha val="12000"/>
              </a:srgbClr>
            </a:outerShdw>
          </a:effectLst>
        </p:spPr>
      </p:sp>
      <p:sp>
        <p:nvSpPr>
          <p:cNvPr id="17" name="Text 14"/>
          <p:cNvSpPr txBox="1"/>
          <p:nvPr/>
        </p:nvSpPr>
        <p:spPr>
          <a:xfrm>
            <a:off x="4983480" y="1344168"/>
            <a:ext cx="3566160" cy="2523744"/>
          </a:xfrm>
          <a:prstGeom prst="rect">
            <a:avLst/>
          </a:prstGeom>
          <a:noFill/>
          <a:ln/>
        </p:spPr>
        <p:txBody>
          <a:bodyPr wrap="square" lIns="0" tIns="0" rIns="0" bIns="0" rtlCol="0" anchor="t"/>
          <a:lstStyle/>
          <a:p>
            <a:pPr indent="0" marL="0">
              <a:buNone/>
            </a:pPr>
            <a:r>
              <a:rPr lang="en-US" sz="1200" dirty="0">
                <a:solidFill>
                  <a:schemeClr val="bg2"/>
                </a:solidFill>
                <a:latin typeface="Courier New" pitchFamily="34" charset="0"/>
                <a:ea typeface="Courier New" pitchFamily="34" charset="-122"/>
                <a:cs typeface="Courier New" pitchFamily="34" charset="-120"/>
              </a:rPr>
              <a:t>FormData</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payload       JSON text</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productImage  file, name = id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(one per item)</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productPdf    file, name = id</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(optional)</a:t>
            </a:r>
            <a:endParaRPr lang="en-US" sz="1200" dirty="0"/>
          </a:p>
          <a:p>
            <a:pPr indent="0" marL="0">
              <a:buNone/>
            </a:pP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ids from the item position:</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item 1  -&gt;  product-image-1</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item 2  -&gt;  product-image-2</a:t>
            </a:r>
            <a:endParaRPr lang="en-US" sz="1200" dirty="0"/>
          </a:p>
          <a:p>
            <a:pPr indent="0" marL="0">
              <a:buNone/>
            </a:pPr>
            <a:r>
              <a:rPr lang="en-US" sz="1200" dirty="0">
                <a:solidFill>
                  <a:schemeClr val="bg2"/>
                </a:solidFill>
                <a:latin typeface="Courier New" pitchFamily="34" charset="0"/>
                <a:ea typeface="Courier New" pitchFamily="34" charset="-122"/>
                <a:cs typeface="Courier New" pitchFamily="34" charset="-120"/>
              </a:rPr>
              <a:t>  PDF     -&gt;  product-pdf</a:t>
            </a:r>
            <a:endParaRPr lang="en-US" sz="1200" dirty="0"/>
          </a:p>
        </p:txBody>
      </p:sp>
      <p:sp>
        <p:nvSpPr>
          <p:cNvPr id="18" name="Chip POST /api/product-demo"/>
          <p:cNvSpPr txBox="1"/>
          <p:nvPr/>
        </p:nvSpPr>
        <p:spPr>
          <a:xfrm>
            <a:off x="4846320" y="4160520"/>
            <a:ext cx="2194560" cy="310896"/>
          </a:xfrm>
          <a:prstGeom prst="roundRect">
            <a:avLst>
              <a:gd name="adj" fmla="val 35294"/>
            </a:avLst>
          </a:prstGeom>
          <a:solidFill>
            <a:schemeClr val="accent1"/>
          </a:solid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POST /api/product-demo</a:t>
            </a:r>
            <a:endParaRPr lang="en-US" sz="1300" dirty="0"/>
          </a:p>
        </p:txBody>
      </p:sp>
      <p:sp>
        <p:nvSpPr>
          <p:cNvPr id="19" name="Text 16"/>
          <p:cNvSpPr txBox="1"/>
          <p:nvPr/>
        </p:nvSpPr>
        <p:spPr>
          <a:xfrm>
            <a:off x="7178040" y="4160520"/>
            <a:ext cx="1554480" cy="36576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the Next route forwards it to the API</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Add: backend processing</a:t>
            </a:r>
            <a:endParaRPr lang="en-US" sz="3200" dirty="0"/>
          </a:p>
        </p:txBody>
      </p:sp>
      <p:sp>
        <p:nvSpPr>
          <p:cNvPr id="4" name="Step 1"/>
          <p:cNvSpPr txBox="1"/>
          <p:nvPr/>
        </p:nvSpPr>
        <p:spPr>
          <a:xfrm>
            <a:off x="457200" y="118872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Text 2"/>
          <p:cNvSpPr txBox="1"/>
          <p:nvPr/>
        </p:nvSpPr>
        <p:spPr>
          <a:xfrm>
            <a:off x="1005840" y="1161288"/>
            <a:ext cx="457200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Read the request</a:t>
            </a:r>
            <a:endParaRPr lang="en-US" sz="1400" dirty="0"/>
          </a:p>
        </p:txBody>
      </p:sp>
      <p:sp>
        <p:nvSpPr>
          <p:cNvPr id="6" name="Text 3"/>
          <p:cNvSpPr txBox="1"/>
          <p:nvPr/>
        </p:nvSpPr>
        <p:spPr>
          <a:xfrm>
            <a:off x="1005840" y="1408176"/>
            <a:ext cx="4754880" cy="38404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Splits it into the payload text and the file parts.</a:t>
            </a:r>
            <a:endParaRPr lang="en-US" sz="1200" dirty="0"/>
          </a:p>
        </p:txBody>
      </p:sp>
      <p:sp>
        <p:nvSpPr>
          <p:cNvPr id="7" name="Step 2"/>
          <p:cNvSpPr txBox="1"/>
          <p:nvPr/>
        </p:nvSpPr>
        <p:spPr>
          <a:xfrm>
            <a:off x="457200" y="186537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Text 5"/>
          <p:cNvSpPr txBox="1"/>
          <p:nvPr/>
        </p:nvSpPr>
        <p:spPr>
          <a:xfrm>
            <a:off x="1005840" y="1837944"/>
            <a:ext cx="457200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Validate everything</a:t>
            </a:r>
            <a:endParaRPr lang="en-US" sz="1400" dirty="0"/>
          </a:p>
        </p:txBody>
      </p:sp>
      <p:sp>
        <p:nvSpPr>
          <p:cNvPr id="9" name="Text 6"/>
          <p:cNvSpPr txBox="1"/>
          <p:nvPr/>
        </p:nvSpPr>
        <p:spPr>
          <a:xfrm>
            <a:off x="1005840" y="2084832"/>
            <a:ext cx="4754880" cy="5943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JSON, category, ssrCode, price, 1 to 10 images, unique safe ids, every id has a file and every file an id, images up to 5 MB, PDF is a PDF.</a:t>
            </a:r>
            <a:endParaRPr lang="en-US" sz="1200" dirty="0"/>
          </a:p>
        </p:txBody>
      </p:sp>
      <p:sp>
        <p:nvSpPr>
          <p:cNvPr id="10" name="Step 3"/>
          <p:cNvSpPr txBox="1"/>
          <p:nvPr/>
        </p:nvSpPr>
        <p:spPr>
          <a:xfrm>
            <a:off x="457200" y="2752344"/>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1" name="Text 8"/>
          <p:cNvSpPr txBox="1"/>
          <p:nvPr/>
        </p:nvSpPr>
        <p:spPr>
          <a:xfrm>
            <a:off x="1005840" y="2724912"/>
            <a:ext cx="457200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Store the files</a:t>
            </a:r>
            <a:endParaRPr lang="en-US" sz="1400" dirty="0"/>
          </a:p>
        </p:txBody>
      </p:sp>
      <p:sp>
        <p:nvSpPr>
          <p:cNvPr id="12" name="Text 9"/>
          <p:cNvSpPr txBox="1"/>
          <p:nvPr/>
        </p:nvSpPr>
        <p:spPr>
          <a:xfrm>
            <a:off x="1005840" y="2971800"/>
            <a:ext cx="4754880" cy="38404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Written to uploads/&lt;id&gt;-&lt;random&gt;.&lt;ext&gt;; each gets a URL.</a:t>
            </a:r>
            <a:endParaRPr lang="en-US" sz="1200" dirty="0"/>
          </a:p>
        </p:txBody>
      </p:sp>
      <p:sp>
        <p:nvSpPr>
          <p:cNvPr id="13" name="Step 4"/>
          <p:cNvSpPr txBox="1"/>
          <p:nvPr/>
        </p:nvSpPr>
        <p:spPr>
          <a:xfrm>
            <a:off x="457200" y="342900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4" name="Text 11"/>
          <p:cNvSpPr txBox="1"/>
          <p:nvPr/>
        </p:nvSpPr>
        <p:spPr>
          <a:xfrm>
            <a:off x="1005840" y="3401568"/>
            <a:ext cx="457200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Save to the database</a:t>
            </a:r>
            <a:endParaRPr lang="en-US" sz="1400" dirty="0"/>
          </a:p>
        </p:txBody>
      </p:sp>
      <p:sp>
        <p:nvSpPr>
          <p:cNvPr id="15" name="Text 12"/>
          <p:cNvSpPr txBox="1"/>
          <p:nvPr/>
        </p:nvSpPr>
        <p:spPr>
          <a:xfrm>
            <a:off x="1005840" y="3648456"/>
            <a:ext cx="4754880" cy="38404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One product row, one product_image row per image, plus pdf_url.</a:t>
            </a:r>
            <a:endParaRPr lang="en-US" sz="1200" dirty="0"/>
          </a:p>
        </p:txBody>
      </p:sp>
      <p:sp>
        <p:nvSpPr>
          <p:cNvPr id="16" name="Step 5"/>
          <p:cNvSpPr txBox="1"/>
          <p:nvPr/>
        </p:nvSpPr>
        <p:spPr>
          <a:xfrm>
            <a:off x="457200" y="4105656"/>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17" name="Text 14"/>
          <p:cNvSpPr txBox="1"/>
          <p:nvPr/>
        </p:nvSpPr>
        <p:spPr>
          <a:xfrm>
            <a:off x="1005840" y="4078224"/>
            <a:ext cx="4572000" cy="2560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Respond 201</a:t>
            </a:r>
            <a:endParaRPr lang="en-US" sz="1400" dirty="0"/>
          </a:p>
        </p:txBody>
      </p:sp>
      <p:sp>
        <p:nvSpPr>
          <p:cNvPr id="18" name="Text 15"/>
          <p:cNvSpPr txBox="1"/>
          <p:nvPr/>
        </p:nvSpPr>
        <p:spPr>
          <a:xfrm>
            <a:off x="1005840" y="4325112"/>
            <a:ext cx="4754880" cy="38404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 success, id, data } with every id replaced by its URL.</a:t>
            </a:r>
            <a:endParaRPr lang="en-US" sz="1200" dirty="0"/>
          </a:p>
        </p:txBody>
      </p:sp>
      <p:sp>
        <p:nvSpPr>
          <p:cNvPr id="19" name="If a check fails"/>
          <p:cNvSpPr/>
          <p:nvPr/>
        </p:nvSpPr>
        <p:spPr>
          <a:xfrm>
            <a:off x="6126480" y="1188720"/>
            <a:ext cx="2560320" cy="1737360"/>
          </a:xfrm>
          <a:prstGeom prst="roundRect">
            <a:avLst>
              <a:gd name="adj" fmla="val 4211"/>
            </a:avLst>
          </a:prstGeom>
          <a:solidFill>
            <a:schemeClr val="accent3">
              <a:alpha val="15000"/>
            </a:schemeClr>
          </a:solidFill>
          <a:ln/>
          <a:effectLst>
            <a:outerShdw sx="100000" sy="100000" kx="0" ky="0" algn="bl" rotWithShape="0" blurRad="76200" dist="25400" dir="5400000">
              <a:srgbClr val="000000">
                <a:alpha val="12000"/>
              </a:srgbClr>
            </a:outerShdw>
          </a:effectLst>
        </p:spPr>
      </p:sp>
      <p:sp>
        <p:nvSpPr>
          <p:cNvPr id="20" name="Text 17"/>
          <p:cNvSpPr txBox="1"/>
          <p:nvPr/>
        </p:nvSpPr>
        <p:spPr>
          <a:xfrm>
            <a:off x="6263640" y="1325880"/>
            <a:ext cx="2286000" cy="1508760"/>
          </a:xfrm>
          <a:prstGeom prst="rect">
            <a:avLst/>
          </a:prstGeom>
          <a:noFill/>
          <a:ln/>
        </p:spPr>
        <p:txBody>
          <a:bodyPr wrap="square" lIns="0" tIns="0" rIns="0" bIns="0" rtlCol="0" anchor="t"/>
          <a:lstStyle/>
          <a:p>
            <a:pPr indent="0" marL="0">
              <a:buNone/>
            </a:pPr>
            <a:r>
              <a:rPr lang="en-US" sz="1300" b="1" dirty="0">
                <a:solidFill>
                  <a:schemeClr val="accent3"/>
                </a:solidFill>
                <a:latin typeface="Calibri" pitchFamily="34" charset="0"/>
                <a:ea typeface="Calibri" pitchFamily="34" charset="-122"/>
                <a:cs typeface="Calibri" pitchFamily="34" charset="-120"/>
              </a:rPr>
              <a:t>If a check fails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HTTP 400 with a message. Nothing is stored and nothing is written to disk.</a:t>
            </a:r>
            <a:endParaRPr lang="en-US" sz="1300" dirty="0"/>
          </a:p>
        </p:txBody>
      </p:sp>
      <p:sp>
        <p:nvSpPr>
          <p:cNvPr id="21" name="Two backends"/>
          <p:cNvSpPr/>
          <p:nvPr/>
        </p:nvSpPr>
        <p:spPr>
          <a:xfrm>
            <a:off x="6126480" y="3108960"/>
            <a:ext cx="2560320" cy="1508760"/>
          </a:xfrm>
          <a:prstGeom prst="roundRect">
            <a:avLst>
              <a:gd name="adj" fmla="val 4848"/>
            </a:avLst>
          </a:prstGeom>
          <a:solidFill>
            <a:schemeClr val="bg2"/>
          </a:solidFill>
          <a:ln/>
          <a:effectLst>
            <a:outerShdw sx="100000" sy="100000" kx="0" ky="0" algn="bl" rotWithShape="0" blurRad="76200" dist="25400" dir="5400000">
              <a:srgbClr val="000000">
                <a:alpha val="12000"/>
              </a:srgbClr>
            </a:outerShdw>
          </a:effectLst>
        </p:spPr>
      </p:sp>
      <p:sp>
        <p:nvSpPr>
          <p:cNvPr id="22" name="Text 19"/>
          <p:cNvSpPr txBox="1"/>
          <p:nvPr/>
        </p:nvSpPr>
        <p:spPr>
          <a:xfrm>
            <a:off x="6263640" y="3246120"/>
            <a:ext cx="2286000" cy="128016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Same on both backends</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Java stores in an H2 database; Express keeps products in memory.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Add: what gets saved</a:t>
            </a:r>
            <a:endParaRPr lang="en-US" sz="3200" dirty="0"/>
          </a:p>
        </p:txBody>
      </p:sp>
      <p:sp>
        <p:nvSpPr>
          <p:cNvPr id="4" name="Text 1"/>
          <p:cNvSpPr txBox="1"/>
          <p:nvPr/>
        </p:nvSpPr>
        <p:spPr>
          <a:xfrm>
            <a:off x="457200" y="1051560"/>
            <a:ext cx="50292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Example: 2 images + 1 PDF</a:t>
            </a:r>
            <a:endParaRPr lang="en-US" sz="1400" dirty="0"/>
          </a:p>
        </p:txBody>
      </p:sp>
      <p:sp>
        <p:nvSpPr>
          <p:cNvPr id="5" name="Text 2"/>
          <p:cNvSpPr txBox="1"/>
          <p:nvPr/>
        </p:nvSpPr>
        <p:spPr>
          <a:xfrm>
            <a:off x="457200" y="1371600"/>
            <a:ext cx="274320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product</a:t>
            </a:r>
            <a:endParaRPr lang="en-US" sz="1200" dirty="0"/>
          </a:p>
        </p:txBody>
      </p:sp>
      <p:graphicFrame>
        <p:nvGraphicFramePr>
          <p:cNvPr id="10" name="product row"/>
          <p:cNvGraphicFramePr>
            <a:graphicFrameLocks noGrp="1"/>
          </p:cNvGraphicFramePr>
          <p:nvPr>
            <p:extLst>
              <p:ext uri="{D42A27DB-BD31-4B8C-83A1-F6EECF244321}">
                <p14:modId xmlns:p14="http://schemas.microsoft.com/office/powerpoint/2010/main" val="1579011935"/>
              </p:ext>
            </p:extLst>
          </p:nvPr>
        </p:nvGraphicFramePr>
        <p:xfrm>
          <a:off x="457200" y="1627632"/>
          <a:ext cx="6858000" cy="914400"/>
        </p:xfrm>
        <a:graphic>
          <a:graphicData uri="http://schemas.openxmlformats.org/drawingml/2006/table">
            <a:tbl>
              <a:tblPr/>
              <a:tblGrid>
                <a:gridCol w="822960"/>
                <a:gridCol w="1463040"/>
                <a:gridCol w="731520"/>
                <a:gridCol w="210312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price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pdf_url</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36576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ab12…</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SampleCategory</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…/product-pdf-9f3e.pdf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457200" y="2377440"/>
            <a:ext cx="274320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product_image</a:t>
            </a:r>
            <a:endParaRPr lang="en-US" sz="1200" dirty="0"/>
          </a:p>
        </p:txBody>
      </p:sp>
      <p:graphicFrame>
        <p:nvGraphicFramePr>
          <p:cNvPr id="19" name="product_image rows"/>
          <p:cNvGraphicFramePr>
            <a:graphicFrameLocks noGrp="1"/>
          </p:cNvGraphicFramePr>
          <p:nvPr>
            <p:extLst>
              <p:ext uri="{D42A27DB-BD31-4B8C-83A1-F6EECF244321}">
                <p14:modId xmlns:p14="http://schemas.microsoft.com/office/powerpoint/2010/main" val="1579011935"/>
              </p:ext>
            </p:extLst>
          </p:nvPr>
        </p:nvGraphicFramePr>
        <p:xfrm>
          <a:off x="457200" y="2615184"/>
          <a:ext cx="6858000" cy="914400"/>
        </p:xfrm>
        <a:graphic>
          <a:graphicData uri="http://schemas.openxmlformats.org/drawingml/2006/table">
            <a:tbl>
              <a:tblPr/>
              <a:tblGrid>
                <a:gridCol w="1097280"/>
                <a:gridCol w="777240"/>
                <a:gridCol w="1965960"/>
                <a:gridCol w="128016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product_id</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url</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36576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ab12…</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…/product-image-1-77aa.jpg</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Front view</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36576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ab12…</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…/product-image-2-c3d1.jpg</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Side view</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bl>
          </a:graphicData>
        </a:graphic>
      </p:graphicFrame>
      <p:sp>
        <p:nvSpPr>
          <p:cNvPr id="9" name="uploads files"/>
          <p:cNvSpPr/>
          <p:nvPr/>
        </p:nvSpPr>
        <p:spPr>
          <a:xfrm>
            <a:off x="5943600" y="1051560"/>
            <a:ext cx="2743200" cy="2834640"/>
          </a:xfrm>
          <a:prstGeom prst="roundRect">
            <a:avLst>
              <a:gd name="adj" fmla="val 2667"/>
            </a:avLst>
          </a:prstGeom>
          <a:solidFill>
            <a:schemeClr val="bg2"/>
          </a:solidFill>
          <a:ln/>
          <a:effectLst>
            <a:outerShdw sx="100000" sy="100000" kx="0" ky="0" algn="bl" rotWithShape="0" blurRad="76200" dist="25400" dir="5400000">
              <a:srgbClr val="000000">
                <a:alpha val="12000"/>
              </a:srgbClr>
            </a:outerShdw>
          </a:effectLst>
        </p:spPr>
      </p:sp>
      <p:sp>
        <p:nvSpPr>
          <p:cNvPr id="10" name="Uploads folder circle"/>
          <p:cNvSpPr/>
          <p:nvPr/>
        </p:nvSpPr>
        <p:spPr>
          <a:xfrm>
            <a:off x="6080760" y="1188720"/>
            <a:ext cx="457200" cy="457200"/>
          </a:xfrm>
          <a:prstGeom prst="ellipse">
            <a:avLst/>
          </a:prstGeom>
          <a:solidFill>
            <a:schemeClr val="accent2"/>
          </a:solidFill>
          <a:ln/>
        </p:spPr>
      </p:sp>
      <p:pic>
        <p:nvPicPr>
          <p:cNvPr id="11" name="Image 0" descr="Uploads folder">    </p:cNvPr>
          <p:cNvPicPr>
            <a:picLocks noChangeAspect="1"/>
          </p:cNvPicPr>
          <p:nvPr/>
        </p:nvPicPr>
        <p:blipFill>
          <a:blip r:embed="rId1"/>
          <a:stretch>
            <a:fillRect/>
          </a:stretch>
        </p:blipFill>
        <p:spPr>
          <a:xfrm>
            <a:off x="6195060" y="1303020"/>
            <a:ext cx="228600" cy="228600"/>
          </a:xfrm>
          <a:prstGeom prst="rect">
            <a:avLst/>
          </a:prstGeom>
        </p:spPr>
      </p:pic>
      <p:sp>
        <p:nvSpPr>
          <p:cNvPr id="12" name="Text 6"/>
          <p:cNvSpPr txBox="1"/>
          <p:nvPr/>
        </p:nvSpPr>
        <p:spPr>
          <a:xfrm>
            <a:off x="6629400" y="1261872"/>
            <a:ext cx="1920240" cy="32004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uploads/</a:t>
            </a:r>
            <a:endParaRPr lang="en-US" sz="1400" dirty="0"/>
          </a:p>
        </p:txBody>
      </p:sp>
      <p:sp>
        <p:nvSpPr>
          <p:cNvPr id="13" name="Text 7"/>
          <p:cNvSpPr txBox="1"/>
          <p:nvPr/>
        </p:nvSpPr>
        <p:spPr>
          <a:xfrm>
            <a:off x="6080760" y="1828800"/>
            <a:ext cx="2514600" cy="914400"/>
          </a:xfrm>
          <a:prstGeom prst="rect">
            <a:avLst/>
          </a:prstGeom>
          <a:noFill/>
          <a:ln/>
        </p:spPr>
        <p:txBody>
          <a:bodyPr wrap="square" lIns="0" tIns="0" rIns="0" bIns="0" rtlCol="0" anchor="t"/>
          <a:lstStyle/>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product-image-1-77aa.jpg</a:t>
            </a:r>
            <a:endParaRPr lang="en-US" sz="1100" dirty="0"/>
          </a:p>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product-image-2-c3d1.jpg</a:t>
            </a:r>
            <a:endParaRPr lang="en-US" sz="1100" dirty="0"/>
          </a:p>
          <a:p>
            <a:pPr indent="0" marL="0">
              <a:spcAft>
                <a:spcPts val="600"/>
              </a:spcAft>
              <a:buNone/>
            </a:pPr>
            <a:r>
              <a:rPr lang="en-US" sz="1100" dirty="0">
                <a:solidFill>
                  <a:schemeClr val="tx1"/>
                </a:solidFill>
                <a:latin typeface="Courier New" pitchFamily="34" charset="0"/>
                <a:ea typeface="Courier New" pitchFamily="34" charset="-122"/>
                <a:cs typeface="Courier New" pitchFamily="34" charset="-120"/>
              </a:rPr>
              <a:t>product-pdf-9f3e.pdf</a:t>
            </a:r>
            <a:endParaRPr lang="en-US" sz="1100" dirty="0"/>
          </a:p>
        </p:txBody>
      </p:sp>
      <p:sp>
        <p:nvSpPr>
          <p:cNvPr id="14" name="Text 8"/>
          <p:cNvSpPr txBox="1"/>
          <p:nvPr/>
        </p:nvSpPr>
        <p:spPr>
          <a:xfrm>
            <a:off x="6080760" y="3200400"/>
            <a:ext cx="2468880" cy="36576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3 files written</a:t>
            </a:r>
            <a:endParaRPr lang="en-US" sz="1300" dirty="0"/>
          </a:p>
        </p:txBody>
      </p:sp>
      <p:sp>
        <p:nvSpPr>
          <p:cNvPr id="15" name="Response"/>
          <p:cNvSpPr/>
          <p:nvPr/>
        </p:nvSpPr>
        <p:spPr>
          <a:xfrm>
            <a:off x="457200" y="4069080"/>
            <a:ext cx="8229600" cy="566928"/>
          </a:xfrm>
          <a:prstGeom prst="roundRect">
            <a:avLst>
              <a:gd name="adj" fmla="val 12903"/>
            </a:avLst>
          </a:prstGeom>
          <a:solidFill>
            <a:schemeClr val="accent1"/>
          </a:solidFill>
          <a:ln/>
          <a:effectLst>
            <a:outerShdw sx="100000" sy="100000" kx="0" ky="0" algn="bl" rotWithShape="0" blurRad="76200" dist="25400" dir="5400000">
              <a:srgbClr val="000000">
                <a:alpha val="12000"/>
              </a:srgbClr>
            </a:outerShdw>
          </a:effectLst>
        </p:spPr>
      </p:sp>
      <p:sp>
        <p:nvSpPr>
          <p:cNvPr id="16" name="Text 10"/>
          <p:cNvSpPr txBox="1"/>
          <p:nvPr/>
        </p:nvSpPr>
        <p:spPr>
          <a:xfrm>
            <a:off x="640080" y="4069080"/>
            <a:ext cx="7863840" cy="566928"/>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Response 201  </a:t>
            </a:r>
            <a:pPr indent="0" marL="0">
              <a:buNone/>
            </a:pPr>
            <a:r>
              <a:rPr lang="en-US" sz="1300" dirty="0">
                <a:solidFill>
                  <a:schemeClr val="bg1"/>
                </a:solidFill>
                <a:latin typeface="Calibri" pitchFamily="34" charset="0"/>
                <a:ea typeface="Calibri" pitchFamily="34" charset="-122"/>
                <a:cs typeface="Calibri" pitchFamily="34" charset="-120"/>
              </a:rPr>
              <a:t>{ success: true, id: "ab12…", data: { … URLs … } }. The form then switches to edit mode with this id.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Add: when it is rejected</a:t>
            </a:r>
            <a:endParaRPr lang="en-US" sz="3200" dirty="0"/>
          </a:p>
        </p:txBody>
      </p:sp>
      <p:sp>
        <p:nvSpPr>
          <p:cNvPr id="4" name="Rejected case"/>
          <p:cNvSpPr/>
          <p:nvPr/>
        </p:nvSpPr>
        <p:spPr>
          <a:xfrm>
            <a:off x="457200" y="1188720"/>
            <a:ext cx="4023360" cy="640080"/>
          </a:xfrm>
          <a:prstGeom prst="roundRect">
            <a:avLst>
              <a:gd name="adj" fmla="val 11429"/>
            </a:avLst>
          </a:prstGeom>
          <a:solidFill>
            <a:schemeClr val="bg2"/>
          </a:solidFill>
          <a:ln/>
        </p:spPr>
      </p:sp>
      <p:sp>
        <p:nvSpPr>
          <p:cNvPr id="5" name="Rejected circle"/>
          <p:cNvSpPr/>
          <p:nvPr/>
        </p:nvSpPr>
        <p:spPr>
          <a:xfrm>
            <a:off x="566928" y="1316736"/>
            <a:ext cx="384048" cy="384048"/>
          </a:xfrm>
          <a:prstGeom prst="ellipse">
            <a:avLst/>
          </a:prstGeom>
          <a:solidFill>
            <a:schemeClr val="accent3"/>
          </a:solidFill>
          <a:ln/>
        </p:spPr>
      </p:sp>
      <p:pic>
        <p:nvPicPr>
          <p:cNvPr id="6" name="Image 0" descr="Rejected">    </p:cNvPr>
          <p:cNvPicPr>
            <a:picLocks noChangeAspect="1"/>
          </p:cNvPicPr>
          <p:nvPr/>
        </p:nvPicPr>
        <p:blipFill>
          <a:blip r:embed="rId1"/>
          <a:stretch>
            <a:fillRect/>
          </a:stretch>
        </p:blipFill>
        <p:spPr>
          <a:xfrm>
            <a:off x="662940" y="1412748"/>
            <a:ext cx="192024" cy="192024"/>
          </a:xfrm>
          <a:prstGeom prst="rect">
            <a:avLst/>
          </a:prstGeom>
        </p:spPr>
      </p:pic>
      <p:sp>
        <p:nvSpPr>
          <p:cNvPr id="7" name="Text 3"/>
          <p:cNvSpPr txBox="1"/>
          <p:nvPr/>
        </p:nvSpPr>
        <p:spPr>
          <a:xfrm>
            <a:off x="1097280" y="1188720"/>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No image, or an image id that has no file</a:t>
            </a:r>
            <a:endParaRPr lang="en-US" sz="1300" dirty="0"/>
          </a:p>
        </p:txBody>
      </p:sp>
      <p:sp>
        <p:nvSpPr>
          <p:cNvPr id="8" name="Rejected case"/>
          <p:cNvSpPr/>
          <p:nvPr/>
        </p:nvSpPr>
        <p:spPr>
          <a:xfrm>
            <a:off x="457200" y="1938528"/>
            <a:ext cx="4023360" cy="640080"/>
          </a:xfrm>
          <a:prstGeom prst="roundRect">
            <a:avLst>
              <a:gd name="adj" fmla="val 11429"/>
            </a:avLst>
          </a:prstGeom>
          <a:solidFill>
            <a:schemeClr val="bg2"/>
          </a:solidFill>
          <a:ln/>
        </p:spPr>
      </p:sp>
      <p:sp>
        <p:nvSpPr>
          <p:cNvPr id="9" name="Rejected circle"/>
          <p:cNvSpPr/>
          <p:nvPr/>
        </p:nvSpPr>
        <p:spPr>
          <a:xfrm>
            <a:off x="566928" y="2066544"/>
            <a:ext cx="384048" cy="384048"/>
          </a:xfrm>
          <a:prstGeom prst="ellipse">
            <a:avLst/>
          </a:prstGeom>
          <a:solidFill>
            <a:schemeClr val="accent3"/>
          </a:solidFill>
          <a:ln/>
        </p:spPr>
      </p:sp>
      <p:pic>
        <p:nvPicPr>
          <p:cNvPr id="10" name="Image 1" descr="Rejected">    </p:cNvPr>
          <p:cNvPicPr>
            <a:picLocks noChangeAspect="1"/>
          </p:cNvPicPr>
          <p:nvPr/>
        </p:nvPicPr>
        <p:blipFill>
          <a:blip r:embed="rId2"/>
          <a:stretch>
            <a:fillRect/>
          </a:stretch>
        </p:blipFill>
        <p:spPr>
          <a:xfrm>
            <a:off x="662940" y="2162556"/>
            <a:ext cx="192024" cy="192024"/>
          </a:xfrm>
          <a:prstGeom prst="rect">
            <a:avLst/>
          </a:prstGeom>
        </p:spPr>
      </p:pic>
      <p:sp>
        <p:nvSpPr>
          <p:cNvPr id="11" name="Text 6"/>
          <p:cNvSpPr txBox="1"/>
          <p:nvPr/>
        </p:nvSpPr>
        <p:spPr>
          <a:xfrm>
            <a:off x="1097280" y="1938528"/>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file the payload does not list</a:t>
            </a:r>
            <a:endParaRPr lang="en-US" sz="1300" dirty="0"/>
          </a:p>
        </p:txBody>
      </p:sp>
      <p:sp>
        <p:nvSpPr>
          <p:cNvPr id="12" name="Rejected case"/>
          <p:cNvSpPr/>
          <p:nvPr/>
        </p:nvSpPr>
        <p:spPr>
          <a:xfrm>
            <a:off x="457200" y="2688336"/>
            <a:ext cx="4023360" cy="640080"/>
          </a:xfrm>
          <a:prstGeom prst="roundRect">
            <a:avLst>
              <a:gd name="adj" fmla="val 11429"/>
            </a:avLst>
          </a:prstGeom>
          <a:solidFill>
            <a:schemeClr val="bg2"/>
          </a:solidFill>
          <a:ln/>
        </p:spPr>
      </p:sp>
      <p:sp>
        <p:nvSpPr>
          <p:cNvPr id="13" name="Rejected circle"/>
          <p:cNvSpPr/>
          <p:nvPr/>
        </p:nvSpPr>
        <p:spPr>
          <a:xfrm>
            <a:off x="566928" y="2816352"/>
            <a:ext cx="384048" cy="384048"/>
          </a:xfrm>
          <a:prstGeom prst="ellipse">
            <a:avLst/>
          </a:prstGeom>
          <a:solidFill>
            <a:schemeClr val="accent3"/>
          </a:solidFill>
          <a:ln/>
        </p:spPr>
      </p:sp>
      <p:pic>
        <p:nvPicPr>
          <p:cNvPr id="14" name="Image 2" descr="Rejected">    </p:cNvPr>
          <p:cNvPicPr>
            <a:picLocks noChangeAspect="1"/>
          </p:cNvPicPr>
          <p:nvPr/>
        </p:nvPicPr>
        <p:blipFill>
          <a:blip r:embed="rId3"/>
          <a:stretch>
            <a:fillRect/>
          </a:stretch>
        </p:blipFill>
        <p:spPr>
          <a:xfrm>
            <a:off x="662940" y="2912364"/>
            <a:ext cx="192024" cy="192024"/>
          </a:xfrm>
          <a:prstGeom prst="rect">
            <a:avLst/>
          </a:prstGeom>
        </p:spPr>
      </p:pic>
      <p:sp>
        <p:nvSpPr>
          <p:cNvPr id="15" name="Text 9"/>
          <p:cNvSpPr txBox="1"/>
          <p:nvPr/>
        </p:nvSpPr>
        <p:spPr>
          <a:xfrm>
            <a:off x="1097280" y="2688336"/>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same image id twice, or an unsafe id</a:t>
            </a:r>
            <a:endParaRPr lang="en-US" sz="1300" dirty="0"/>
          </a:p>
        </p:txBody>
      </p:sp>
      <p:sp>
        <p:nvSpPr>
          <p:cNvPr id="16" name="Rejected case"/>
          <p:cNvSpPr/>
          <p:nvPr/>
        </p:nvSpPr>
        <p:spPr>
          <a:xfrm>
            <a:off x="457200" y="3438144"/>
            <a:ext cx="4023360" cy="640080"/>
          </a:xfrm>
          <a:prstGeom prst="roundRect">
            <a:avLst>
              <a:gd name="adj" fmla="val 11429"/>
            </a:avLst>
          </a:prstGeom>
          <a:solidFill>
            <a:schemeClr val="bg2"/>
          </a:solidFill>
          <a:ln/>
        </p:spPr>
      </p:sp>
      <p:sp>
        <p:nvSpPr>
          <p:cNvPr id="17" name="Rejected circle"/>
          <p:cNvSpPr/>
          <p:nvPr/>
        </p:nvSpPr>
        <p:spPr>
          <a:xfrm>
            <a:off x="566928" y="3566160"/>
            <a:ext cx="384048" cy="384048"/>
          </a:xfrm>
          <a:prstGeom prst="ellipse">
            <a:avLst/>
          </a:prstGeom>
          <a:solidFill>
            <a:schemeClr val="accent3"/>
          </a:solidFill>
          <a:ln/>
        </p:spPr>
      </p:sp>
      <p:pic>
        <p:nvPicPr>
          <p:cNvPr id="18" name="Image 3" descr="Rejected">    </p:cNvPr>
          <p:cNvPicPr>
            <a:picLocks noChangeAspect="1"/>
          </p:cNvPicPr>
          <p:nvPr/>
        </p:nvPicPr>
        <p:blipFill>
          <a:blip r:embed="rId4"/>
          <a:stretch>
            <a:fillRect/>
          </a:stretch>
        </p:blipFill>
        <p:spPr>
          <a:xfrm>
            <a:off x="662940" y="3662172"/>
            <a:ext cx="192024" cy="192024"/>
          </a:xfrm>
          <a:prstGeom prst="rect">
            <a:avLst/>
          </a:prstGeom>
        </p:spPr>
      </p:pic>
      <p:sp>
        <p:nvSpPr>
          <p:cNvPr id="19" name="Text 12"/>
          <p:cNvSpPr txBox="1"/>
          <p:nvPr/>
        </p:nvSpPr>
        <p:spPr>
          <a:xfrm>
            <a:off x="1097280" y="3438144"/>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More than 10 images</a:t>
            </a:r>
            <a:endParaRPr lang="en-US" sz="1300" dirty="0"/>
          </a:p>
        </p:txBody>
      </p:sp>
      <p:sp>
        <p:nvSpPr>
          <p:cNvPr id="20" name="Rejected case"/>
          <p:cNvSpPr/>
          <p:nvPr/>
        </p:nvSpPr>
        <p:spPr>
          <a:xfrm>
            <a:off x="4663440" y="1188720"/>
            <a:ext cx="4023360" cy="640080"/>
          </a:xfrm>
          <a:prstGeom prst="roundRect">
            <a:avLst>
              <a:gd name="adj" fmla="val 11429"/>
            </a:avLst>
          </a:prstGeom>
          <a:solidFill>
            <a:schemeClr val="bg2"/>
          </a:solidFill>
          <a:ln/>
        </p:spPr>
      </p:sp>
      <p:sp>
        <p:nvSpPr>
          <p:cNvPr id="21" name="Rejected circle"/>
          <p:cNvSpPr/>
          <p:nvPr/>
        </p:nvSpPr>
        <p:spPr>
          <a:xfrm>
            <a:off x="4773168" y="1316736"/>
            <a:ext cx="384048" cy="384048"/>
          </a:xfrm>
          <a:prstGeom prst="ellipse">
            <a:avLst/>
          </a:prstGeom>
          <a:solidFill>
            <a:schemeClr val="accent3"/>
          </a:solidFill>
          <a:ln/>
        </p:spPr>
      </p:sp>
      <p:pic>
        <p:nvPicPr>
          <p:cNvPr id="22" name="Image 4" descr="Rejected">    </p:cNvPr>
          <p:cNvPicPr>
            <a:picLocks noChangeAspect="1"/>
          </p:cNvPicPr>
          <p:nvPr/>
        </p:nvPicPr>
        <p:blipFill>
          <a:blip r:embed="rId5"/>
          <a:stretch>
            <a:fillRect/>
          </a:stretch>
        </p:blipFill>
        <p:spPr>
          <a:xfrm>
            <a:off x="4869180" y="1412748"/>
            <a:ext cx="192024" cy="192024"/>
          </a:xfrm>
          <a:prstGeom prst="rect">
            <a:avLst/>
          </a:prstGeom>
        </p:spPr>
      </p:pic>
      <p:sp>
        <p:nvSpPr>
          <p:cNvPr id="23" name="Text 15"/>
          <p:cNvSpPr txBox="1"/>
          <p:nvPr/>
        </p:nvSpPr>
        <p:spPr>
          <a:xfrm>
            <a:off x="5303520" y="1188720"/>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file that is not an image, or a PDF that is not a PDF</a:t>
            </a:r>
            <a:endParaRPr lang="en-US" sz="1300" dirty="0"/>
          </a:p>
        </p:txBody>
      </p:sp>
      <p:sp>
        <p:nvSpPr>
          <p:cNvPr id="24" name="Rejected case"/>
          <p:cNvSpPr/>
          <p:nvPr/>
        </p:nvSpPr>
        <p:spPr>
          <a:xfrm>
            <a:off x="4663440" y="1938528"/>
            <a:ext cx="4023360" cy="640080"/>
          </a:xfrm>
          <a:prstGeom prst="roundRect">
            <a:avLst>
              <a:gd name="adj" fmla="val 11429"/>
            </a:avLst>
          </a:prstGeom>
          <a:solidFill>
            <a:schemeClr val="bg2"/>
          </a:solidFill>
          <a:ln/>
        </p:spPr>
      </p:sp>
      <p:sp>
        <p:nvSpPr>
          <p:cNvPr id="25" name="Rejected circle"/>
          <p:cNvSpPr/>
          <p:nvPr/>
        </p:nvSpPr>
        <p:spPr>
          <a:xfrm>
            <a:off x="4773168" y="2066544"/>
            <a:ext cx="384048" cy="384048"/>
          </a:xfrm>
          <a:prstGeom prst="ellipse">
            <a:avLst/>
          </a:prstGeom>
          <a:solidFill>
            <a:schemeClr val="accent3"/>
          </a:solidFill>
          <a:ln/>
        </p:spPr>
      </p:sp>
      <p:pic>
        <p:nvPicPr>
          <p:cNvPr id="26" name="Image 5" descr="Rejected">    </p:cNvPr>
          <p:cNvPicPr>
            <a:picLocks noChangeAspect="1"/>
          </p:cNvPicPr>
          <p:nvPr/>
        </p:nvPicPr>
        <p:blipFill>
          <a:blip r:embed="rId6"/>
          <a:stretch>
            <a:fillRect/>
          </a:stretch>
        </p:blipFill>
        <p:spPr>
          <a:xfrm>
            <a:off x="4869180" y="2162556"/>
            <a:ext cx="192024" cy="192024"/>
          </a:xfrm>
          <a:prstGeom prst="rect">
            <a:avLst/>
          </a:prstGeom>
        </p:spPr>
      </p:pic>
      <p:sp>
        <p:nvSpPr>
          <p:cNvPr id="27" name="Text 18"/>
          <p:cNvSpPr txBox="1"/>
          <p:nvPr/>
        </p:nvSpPr>
        <p:spPr>
          <a:xfrm>
            <a:off x="5303520" y="1938528"/>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An image over 5 MB</a:t>
            </a:r>
            <a:endParaRPr lang="en-US" sz="1300" dirty="0"/>
          </a:p>
        </p:txBody>
      </p:sp>
      <p:sp>
        <p:nvSpPr>
          <p:cNvPr id="28" name="Rejected case"/>
          <p:cNvSpPr/>
          <p:nvPr/>
        </p:nvSpPr>
        <p:spPr>
          <a:xfrm>
            <a:off x="4663440" y="2688336"/>
            <a:ext cx="4023360" cy="640080"/>
          </a:xfrm>
          <a:prstGeom prst="roundRect">
            <a:avLst>
              <a:gd name="adj" fmla="val 11429"/>
            </a:avLst>
          </a:prstGeom>
          <a:solidFill>
            <a:schemeClr val="bg2"/>
          </a:solidFill>
          <a:ln/>
        </p:spPr>
      </p:sp>
      <p:sp>
        <p:nvSpPr>
          <p:cNvPr id="29" name="Rejected circle"/>
          <p:cNvSpPr/>
          <p:nvPr/>
        </p:nvSpPr>
        <p:spPr>
          <a:xfrm>
            <a:off x="4773168" y="2816352"/>
            <a:ext cx="384048" cy="384048"/>
          </a:xfrm>
          <a:prstGeom prst="ellipse">
            <a:avLst/>
          </a:prstGeom>
          <a:solidFill>
            <a:schemeClr val="accent3"/>
          </a:solidFill>
          <a:ln/>
        </p:spPr>
      </p:sp>
      <p:pic>
        <p:nvPicPr>
          <p:cNvPr id="30" name="Image 6" descr="Rejected">    </p:cNvPr>
          <p:cNvPicPr>
            <a:picLocks noChangeAspect="1"/>
          </p:cNvPicPr>
          <p:nvPr/>
        </p:nvPicPr>
        <p:blipFill>
          <a:blip r:embed="rId7"/>
          <a:stretch>
            <a:fillRect/>
          </a:stretch>
        </p:blipFill>
        <p:spPr>
          <a:xfrm>
            <a:off x="4869180" y="2912364"/>
            <a:ext cx="192024" cy="192024"/>
          </a:xfrm>
          <a:prstGeom prst="rect">
            <a:avLst/>
          </a:prstGeom>
        </p:spPr>
      </p:pic>
      <p:sp>
        <p:nvSpPr>
          <p:cNvPr id="31" name="Text 21"/>
          <p:cNvSpPr txBox="1"/>
          <p:nvPr/>
        </p:nvSpPr>
        <p:spPr>
          <a:xfrm>
            <a:off x="5303520" y="2688336"/>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Missing category or ssrCode, or a negative price</a:t>
            </a:r>
            <a:endParaRPr lang="en-US" sz="1300" dirty="0"/>
          </a:p>
        </p:txBody>
      </p:sp>
      <p:sp>
        <p:nvSpPr>
          <p:cNvPr id="32" name="Rejected case"/>
          <p:cNvSpPr/>
          <p:nvPr/>
        </p:nvSpPr>
        <p:spPr>
          <a:xfrm>
            <a:off x="4663440" y="3438144"/>
            <a:ext cx="4023360" cy="640080"/>
          </a:xfrm>
          <a:prstGeom prst="roundRect">
            <a:avLst>
              <a:gd name="adj" fmla="val 11429"/>
            </a:avLst>
          </a:prstGeom>
          <a:solidFill>
            <a:schemeClr val="bg2"/>
          </a:solidFill>
          <a:ln/>
        </p:spPr>
      </p:sp>
      <p:sp>
        <p:nvSpPr>
          <p:cNvPr id="33" name="Rejected circle"/>
          <p:cNvSpPr/>
          <p:nvPr/>
        </p:nvSpPr>
        <p:spPr>
          <a:xfrm>
            <a:off x="4773168" y="3566160"/>
            <a:ext cx="384048" cy="384048"/>
          </a:xfrm>
          <a:prstGeom prst="ellipse">
            <a:avLst/>
          </a:prstGeom>
          <a:solidFill>
            <a:schemeClr val="accent3"/>
          </a:solidFill>
          <a:ln/>
        </p:spPr>
      </p:sp>
      <p:pic>
        <p:nvPicPr>
          <p:cNvPr id="34" name="Image 7" descr="Rejected">    </p:cNvPr>
          <p:cNvPicPr>
            <a:picLocks noChangeAspect="1"/>
          </p:cNvPicPr>
          <p:nvPr/>
        </p:nvPicPr>
        <p:blipFill>
          <a:blip r:embed="rId8"/>
          <a:stretch>
            <a:fillRect/>
          </a:stretch>
        </p:blipFill>
        <p:spPr>
          <a:xfrm>
            <a:off x="4869180" y="3662172"/>
            <a:ext cx="192024" cy="192024"/>
          </a:xfrm>
          <a:prstGeom prst="rect">
            <a:avLst/>
          </a:prstGeom>
        </p:spPr>
      </p:pic>
      <p:sp>
        <p:nvSpPr>
          <p:cNvPr id="35" name="Text 24"/>
          <p:cNvSpPr txBox="1"/>
          <p:nvPr/>
        </p:nvSpPr>
        <p:spPr>
          <a:xfrm>
            <a:off x="5303520" y="3438144"/>
            <a:ext cx="32918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payload that is not valid JSON</a:t>
            </a:r>
            <a:endParaRPr lang="en-US" sz="1300" dirty="0"/>
          </a:p>
        </p:txBody>
      </p:sp>
      <p:sp>
        <p:nvSpPr>
          <p:cNvPr id="36" name="Banner"/>
          <p:cNvSpPr/>
          <p:nvPr/>
        </p:nvSpPr>
        <p:spPr>
          <a:xfrm>
            <a:off x="457200" y="4297680"/>
            <a:ext cx="8229600" cy="365760"/>
          </a:xfrm>
          <a:prstGeom prst="roundRect">
            <a:avLst>
              <a:gd name="adj" fmla="val 20000"/>
            </a:avLst>
          </a:prstGeom>
          <a:solidFill>
            <a:schemeClr val="accent3">
              <a:alpha val="15000"/>
            </a:schemeClr>
          </a:solidFill>
          <a:ln/>
        </p:spPr>
      </p:sp>
      <p:sp>
        <p:nvSpPr>
          <p:cNvPr id="37" name="Text 26"/>
          <p:cNvSpPr txBox="1"/>
          <p:nvPr/>
        </p:nvSpPr>
        <p:spPr>
          <a:xfrm>
            <a:off x="640080" y="4297680"/>
            <a:ext cx="7863840" cy="365760"/>
          </a:xfrm>
          <a:prstGeom prst="rect">
            <a:avLst/>
          </a:prstGeom>
          <a:noFill/>
          <a:ln/>
        </p:spPr>
        <p:txBody>
          <a:bodyPr wrap="square" lIns="0" tIns="0" rIns="0" bIns="0" rtlCol="0" anchor="ctr"/>
          <a:lstStyle/>
          <a:p>
            <a:pPr indent="0" marL="0">
              <a:buNone/>
            </a:pPr>
            <a:r>
              <a:rPr lang="en-US" sz="1300" b="1" dirty="0">
                <a:solidFill>
                  <a:schemeClr val="accent3"/>
                </a:solidFill>
                <a:latin typeface="Calibri" pitchFamily="34" charset="0"/>
                <a:ea typeface="Calibri" pitchFamily="34" charset="-122"/>
                <a:cs typeface="Calibri" pitchFamily="34" charset="-120"/>
              </a:rPr>
              <a:t>Result: </a:t>
            </a:r>
            <a:pPr indent="0" marL="0">
              <a:buNone/>
            </a:pPr>
            <a:r>
              <a:rPr lang="en-US" sz="1300" dirty="0">
                <a:solidFill>
                  <a:schemeClr val="tx1"/>
                </a:solidFill>
                <a:latin typeface="Calibri" pitchFamily="34" charset="0"/>
                <a:ea typeface="Calibri" pitchFamily="34" charset="-122"/>
                <a:cs typeface="Calibri" pitchFamily="34" charset="-120"/>
              </a:rPr>
              <a:t>HTTP 400 { success: false, error }. Nothing saved, nothing written to disk.</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9144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Update a product</a:t>
            </a:r>
            <a:endParaRPr lang="en-US" sz="4000" dirty="0"/>
          </a:p>
        </p:txBody>
      </p:sp>
      <p:sp>
        <p:nvSpPr>
          <p:cNvPr id="3" name="Text 0"/>
          <p:cNvSpPr/>
          <p:nvPr>
            <p:ph idx="101" type="body" hasCustomPrompt="1"/>
          </p:nvPr>
        </p:nvSpPr>
        <p:spPr>
          <a:xfrm>
            <a:off x="640080" y="2468880"/>
            <a:ext cx="7863840" cy="82296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PUT /demo/products/{id}  ·  keep, add or remove images per item</a:t>
            </a:r>
            <a:endParaRPr lang="en-US" sz="2000" dirty="0"/>
          </a:p>
        </p:txBody>
      </p:sp>
      <p:sp>
        <p:nvSpPr>
          <p:cNvPr id="5" name="Update circle"/>
          <p:cNvSpPr/>
          <p:nvPr/>
        </p:nvSpPr>
        <p:spPr>
          <a:xfrm>
            <a:off x="640080" y="3657600"/>
            <a:ext cx="822960" cy="822960"/>
          </a:xfrm>
          <a:prstGeom prst="ellipse">
            <a:avLst/>
          </a:prstGeom>
          <a:solidFill>
            <a:schemeClr val="accent2"/>
          </a:solidFill>
          <a:ln/>
        </p:spPr>
      </p:sp>
      <p:pic>
        <p:nvPicPr>
          <p:cNvPr id="6" name="Image 0" descr="Update">    </p:cNvPr>
          <p:cNvPicPr>
            <a:picLocks noChangeAspect="1"/>
          </p:cNvPicPr>
          <p:nvPr/>
        </p:nvPicPr>
        <p:blipFill>
          <a:blip r:embed="rId1"/>
          <a:stretch>
            <a:fillRect/>
          </a:stretch>
        </p:blipFill>
        <p:spPr>
          <a:xfrm>
            <a:off x="845820" y="3863340"/>
            <a:ext cx="411480" cy="411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what the UI sends</a:t>
            </a:r>
            <a:endParaRPr lang="en-US" sz="3200" dirty="0"/>
          </a:p>
        </p:txBody>
      </p:sp>
      <p:sp>
        <p:nvSpPr>
          <p:cNvPr id="4" name="Text 1"/>
          <p:cNvSpPr txBox="1"/>
          <p:nvPr/>
        </p:nvSpPr>
        <p:spPr>
          <a:xfrm>
            <a:off x="457200" y="1024128"/>
            <a:ext cx="8229600" cy="41148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After a save the form switches to edit mode: stored images show from their URL, and only new files are re-sent.</a:t>
            </a:r>
            <a:endParaRPr lang="en-US" sz="1400" dirty="0"/>
          </a:p>
        </p:txBody>
      </p:sp>
      <p:graphicFrame>
        <p:nvGraphicFramePr>
          <p:cNvPr id="13" name="UI actions"/>
          <p:cNvGraphicFramePr>
            <a:graphicFrameLocks noGrp="1"/>
          </p:cNvGraphicFramePr>
          <p:nvPr>
            <p:extLst>
              <p:ext uri="{D42A27DB-BD31-4B8C-83A1-F6EECF244321}">
                <p14:modId xmlns:p14="http://schemas.microsoft.com/office/powerpoint/2010/main" val="1579011935"/>
              </p:ext>
            </p:extLst>
          </p:nvPr>
        </p:nvGraphicFramePr>
        <p:xfrm>
          <a:off x="457200" y="1554480"/>
          <a:ext cx="6858000" cy="914400"/>
        </p:xfrm>
        <a:graphic>
          <a:graphicData uri="http://schemas.openxmlformats.org/drawingml/2006/table">
            <a:tbl>
              <a:tblPr/>
              <a:tblGrid>
                <a:gridCol w="2468880"/>
                <a:gridCol w="3383280"/>
                <a:gridCol w="2377440"/>
              </a:tblGrid>
              <a:tr h="34747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UI action</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Payload entry</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File part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Edit a description</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latin typeface="Calibri" pitchFamily="34" charset="0"/>
                          <a:ea typeface="Calibri" pitchFamily="34" charset="-122"/>
                          <a:cs typeface="Calibri" pitchFamily="34" charset="-120"/>
                        </a:rPr>
                        <a:t>current URL</a:t>
                      </a:r>
                      <a:pPr indent="0" marL="0">
                        <a:buNone/>
                      </a:pPr>
                      <a:r>
                        <a:rPr lang="en-US" sz="1300" dirty="0">
                          <a:solidFill>
                            <a:schemeClr val="tx1"/>
                          </a:solidFill>
                          <a:latin typeface="Calibri" pitchFamily="34" charset="0"/>
                          <a:ea typeface="Calibri" pitchFamily="34" charset="-122"/>
                          <a:cs typeface="Calibri" pitchFamily="34" charset="-120"/>
                        </a:rPr>
                        <a:t> + new text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Replace an image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id</a:t>
                      </a:r>
                      <a:pPr indent="0" marL="0">
                        <a:buNone/>
                      </a:pPr>
                      <a:r>
                        <a:rPr lang="en-US" sz="1300" dirty="0">
                          <a:solidFill>
                            <a:schemeClr val="tx1"/>
                          </a:solidFill>
                          <a:latin typeface="Calibri" pitchFamily="34" charset="0"/>
                          <a:ea typeface="Calibri" pitchFamily="34" charset="-122"/>
                          <a:cs typeface="Calibri" pitchFamily="34" charset="-120"/>
                        </a:rPr>
                        <a:t> (old URL left out)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file</a:t>
                      </a:r>
                      <a:pPr indent="0" marL="0">
                        <a:buNone/>
                      </a:pPr>
                      <a:r>
                        <a:rPr lang="en-US" sz="1300" dirty="0">
                          <a:solidFill>
                            <a:schemeClr val="tx1"/>
                          </a:solidFill>
                          <a:latin typeface="Calibri" pitchFamily="34" charset="0"/>
                          <a:ea typeface="Calibri" pitchFamily="34" charset="-122"/>
                          <a:cs typeface="Calibri" pitchFamily="34" charset="-120"/>
                        </a:rPr>
                        <a:t>, filename = id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Add an image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id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file</a:t>
                      </a:r>
                      <a:pPr indent="0" marL="0">
                        <a:buNone/>
                      </a:pPr>
                      <a:r>
                        <a:rPr lang="en-US" sz="1300" dirty="0">
                          <a:solidFill>
                            <a:schemeClr val="tx1"/>
                          </a:solidFill>
                          <a:latin typeface="Calibri" pitchFamily="34" charset="0"/>
                          <a:ea typeface="Calibri" pitchFamily="34" charset="-122"/>
                          <a:cs typeface="Calibri" pitchFamily="34" charset="-120"/>
                        </a:rPr>
                        <a:t>, filename = id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Remove an image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left out</a:t>
                      </a:r>
                      <a:pPr indent="0" marL="0">
                        <a:buNone/>
                      </a:pPr>
                      <a:r>
                        <a:rPr lang="en-US" sz="1300" dirty="0">
                          <a:solidFill>
                            <a:schemeClr val="tx1"/>
                          </a:solidFill>
                          <a:latin typeface="Calibri" pitchFamily="34" charset="0"/>
                          <a:ea typeface="Calibri" pitchFamily="34" charset="-122"/>
                          <a:cs typeface="Calibri" pitchFamily="34" charset="-120"/>
                        </a:rPr>
                        <a:t> of the list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Reorder images</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entries in the new order</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PDF: keep / replace / remove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latin typeface="Calibri" pitchFamily="34" charset="0"/>
                          <a:ea typeface="Calibri" pitchFamily="34" charset="-122"/>
                          <a:cs typeface="Calibri" pitchFamily="34" charset="-120"/>
                        </a:rPr>
                        <a:t>URL</a:t>
                      </a:r>
                      <a:pPr indent="0" marL="0">
                        <a:buNone/>
                      </a:pPr>
                      <a:r>
                        <a:rPr lang="en-US" sz="1300" dirty="0">
                          <a:solidFill>
                            <a:schemeClr val="tx1"/>
                          </a:solidFill>
                          <a:latin typeface="Calibri" pitchFamily="34" charset="0"/>
                          <a:ea typeface="Calibri" pitchFamily="34" charset="-122"/>
                          <a:cs typeface="Calibri" pitchFamily="34" charset="-120"/>
                        </a:rPr>
                        <a:t> / </a:t>
                      </a:r>
                      <a:pPr indent="0" marL="0">
                        <a:buNone/>
                      </a:pPr>
                      <a:r>
                        <a:rPr lang="en-US" sz="1300" b="1" dirty="0">
                          <a:solidFill>
                            <a:schemeClr val="accent6"/>
                          </a:solidFill>
                          <a:latin typeface="Calibri" pitchFamily="34" charset="0"/>
                          <a:ea typeface="Calibri" pitchFamily="34" charset="-122"/>
                          <a:cs typeface="Calibri" pitchFamily="34" charset="-120"/>
                        </a:rPr>
                        <a:t>"product-pdf"</a:t>
                      </a:r>
                      <a:pPr indent="0" marL="0">
                        <a:buNone/>
                      </a:pPr>
                      <a:r>
                        <a:rPr lang="en-US" sz="1300" dirty="0">
                          <a:solidFill>
                            <a:schemeClr val="tx1"/>
                          </a:solidFill>
                          <a:latin typeface="Calibri" pitchFamily="34" charset="0"/>
                          <a:ea typeface="Calibri" pitchFamily="34" charset="-122"/>
                          <a:cs typeface="Calibri" pitchFamily="34" charset="-120"/>
                        </a:rPr>
                        <a:t> / </a:t>
                      </a:r>
                      <a:pPr indent="0" marL="0">
                        <a:buNone/>
                      </a:pPr>
                      <a:r>
                        <a:rPr lang="en-US" sz="1300" b="1" dirty="0">
                          <a:solidFill>
                            <a:schemeClr val="accent3"/>
                          </a:solidFill>
                          <a:latin typeface="Calibri" pitchFamily="34" charset="0"/>
                          <a:ea typeface="Calibri" pitchFamily="34" charset="-122"/>
                          <a:cs typeface="Calibri" pitchFamily="34" charset="-120"/>
                        </a:rPr>
                        <a:t>omitted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only when replacing</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backend processing</a:t>
            </a:r>
            <a:endParaRPr lang="en-US" sz="3200" dirty="0"/>
          </a:p>
        </p:txBody>
      </p:sp>
      <p:sp>
        <p:nvSpPr>
          <p:cNvPr id="4" name="Step 1"/>
          <p:cNvSpPr txBox="1"/>
          <p:nvPr/>
        </p:nvSpPr>
        <p:spPr>
          <a:xfrm>
            <a:off x="457200" y="114300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Text 2"/>
          <p:cNvSpPr txBox="1"/>
          <p:nvPr/>
        </p:nvSpPr>
        <p:spPr>
          <a:xfrm>
            <a:off x="960120" y="1106424"/>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Load the stored product</a:t>
            </a:r>
            <a:endParaRPr lang="en-US" sz="1400" dirty="0"/>
          </a:p>
        </p:txBody>
      </p:sp>
      <p:sp>
        <p:nvSpPr>
          <p:cNvPr id="6" name="Text 3"/>
          <p:cNvSpPr txBox="1"/>
          <p:nvPr/>
        </p:nvSpPr>
        <p:spPr>
          <a:xfrm>
            <a:off x="960120" y="1344168"/>
            <a:ext cx="493776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Current image URLs and PDF come from the database. Unknown id: 404.</a:t>
            </a:r>
            <a:endParaRPr lang="en-US" sz="1200" dirty="0"/>
          </a:p>
        </p:txBody>
      </p:sp>
      <p:sp>
        <p:nvSpPr>
          <p:cNvPr id="7" name="Step 2"/>
          <p:cNvSpPr txBox="1"/>
          <p:nvPr/>
        </p:nvSpPr>
        <p:spPr>
          <a:xfrm>
            <a:off x="457200" y="169164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Text 5"/>
          <p:cNvSpPr txBox="1"/>
          <p:nvPr/>
        </p:nvSpPr>
        <p:spPr>
          <a:xfrm>
            <a:off x="960120" y="1655064"/>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Validate</a:t>
            </a:r>
            <a:endParaRPr lang="en-US" sz="1400" dirty="0"/>
          </a:p>
        </p:txBody>
      </p:sp>
      <p:sp>
        <p:nvSpPr>
          <p:cNvPr id="9" name="Text 6"/>
          <p:cNvSpPr txBox="1"/>
          <p:nvPr/>
        </p:nvSpPr>
        <p:spPr>
          <a:xfrm>
            <a:off x="960120" y="1892808"/>
            <a:ext cx="4937760" cy="475488"/>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Same checks as add, and every image is a new id or one of this product's current URLs. 1 to 10 images in total.</a:t>
            </a:r>
            <a:endParaRPr lang="en-US" sz="1200" dirty="0"/>
          </a:p>
        </p:txBody>
      </p:sp>
      <p:sp>
        <p:nvSpPr>
          <p:cNvPr id="10" name="Step 3"/>
          <p:cNvSpPr txBox="1"/>
          <p:nvPr/>
        </p:nvSpPr>
        <p:spPr>
          <a:xfrm>
            <a:off x="457200" y="235000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1" name="Text 8"/>
          <p:cNvSpPr txBox="1"/>
          <p:nvPr/>
        </p:nvSpPr>
        <p:spPr>
          <a:xfrm>
            <a:off x="960120" y="2313432"/>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Store only the new files</a:t>
            </a:r>
            <a:endParaRPr lang="en-US" sz="1400" dirty="0"/>
          </a:p>
        </p:txBody>
      </p:sp>
      <p:sp>
        <p:nvSpPr>
          <p:cNvPr id="12" name="Text 9"/>
          <p:cNvSpPr txBox="1"/>
          <p:nvPr/>
        </p:nvSpPr>
        <p:spPr>
          <a:xfrm>
            <a:off x="960120" y="2551176"/>
            <a:ext cx="493776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Kept images are not touched or re-uploaded.</a:t>
            </a:r>
            <a:endParaRPr lang="en-US" sz="1200" dirty="0"/>
          </a:p>
        </p:txBody>
      </p:sp>
      <p:sp>
        <p:nvSpPr>
          <p:cNvPr id="13" name="Step 4"/>
          <p:cNvSpPr txBox="1"/>
          <p:nvPr/>
        </p:nvSpPr>
        <p:spPr>
          <a:xfrm>
            <a:off x="457200" y="289864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4</a:t>
            </a:r>
            <a:endParaRPr lang="en-US" sz="1400" dirty="0"/>
          </a:p>
        </p:txBody>
      </p:sp>
      <p:sp>
        <p:nvSpPr>
          <p:cNvPr id="14" name="Text 11"/>
          <p:cNvSpPr txBox="1"/>
          <p:nvPr/>
        </p:nvSpPr>
        <p:spPr>
          <a:xfrm>
            <a:off x="960120" y="2862072"/>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Save to the database</a:t>
            </a:r>
            <a:endParaRPr lang="en-US" sz="1400" dirty="0"/>
          </a:p>
        </p:txBody>
      </p:sp>
      <p:sp>
        <p:nvSpPr>
          <p:cNvPr id="15" name="Text 12"/>
          <p:cNvSpPr txBox="1"/>
          <p:nvPr/>
        </p:nvSpPr>
        <p:spPr>
          <a:xfrm>
            <a:off x="960120" y="3099816"/>
            <a:ext cx="493776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Replaces the product row and its image rows, in the new order.</a:t>
            </a:r>
            <a:endParaRPr lang="en-US" sz="1200" dirty="0"/>
          </a:p>
        </p:txBody>
      </p:sp>
      <p:sp>
        <p:nvSpPr>
          <p:cNvPr id="16" name="Step 5"/>
          <p:cNvSpPr txBox="1"/>
          <p:nvPr/>
        </p:nvSpPr>
        <p:spPr>
          <a:xfrm>
            <a:off x="457200" y="344728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5</a:t>
            </a:r>
            <a:endParaRPr lang="en-US" sz="1400" dirty="0"/>
          </a:p>
        </p:txBody>
      </p:sp>
      <p:sp>
        <p:nvSpPr>
          <p:cNvPr id="17" name="Text 14"/>
          <p:cNvSpPr txBox="1"/>
          <p:nvPr/>
        </p:nvSpPr>
        <p:spPr>
          <a:xfrm>
            <a:off x="960120" y="3410712"/>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Delete files no longer used</a:t>
            </a:r>
            <a:endParaRPr lang="en-US" sz="1400" dirty="0"/>
          </a:p>
        </p:txBody>
      </p:sp>
      <p:sp>
        <p:nvSpPr>
          <p:cNvPr id="18" name="Text 15"/>
          <p:cNvSpPr txBox="1"/>
          <p:nvPr/>
        </p:nvSpPr>
        <p:spPr>
          <a:xfrm>
            <a:off x="960120" y="3648456"/>
            <a:ext cx="4937760" cy="36576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Stored images missing from the new list, and a replaced or removed PDF.</a:t>
            </a:r>
            <a:endParaRPr lang="en-US" sz="1200" dirty="0"/>
          </a:p>
        </p:txBody>
      </p:sp>
      <p:sp>
        <p:nvSpPr>
          <p:cNvPr id="19" name="Step 6"/>
          <p:cNvSpPr txBox="1"/>
          <p:nvPr/>
        </p:nvSpPr>
        <p:spPr>
          <a:xfrm>
            <a:off x="457200" y="399592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6</a:t>
            </a:r>
            <a:endParaRPr lang="en-US" sz="1400" dirty="0"/>
          </a:p>
        </p:txBody>
      </p:sp>
      <p:sp>
        <p:nvSpPr>
          <p:cNvPr id="20" name="Text 17"/>
          <p:cNvSpPr txBox="1"/>
          <p:nvPr/>
        </p:nvSpPr>
        <p:spPr>
          <a:xfrm>
            <a:off x="960120" y="3959352"/>
            <a:ext cx="4846320" cy="24688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Respond 200</a:t>
            </a:r>
            <a:endParaRPr lang="en-US" sz="1400" dirty="0"/>
          </a:p>
        </p:txBody>
      </p:sp>
      <p:sp>
        <p:nvSpPr>
          <p:cNvPr id="21" name="Text 18"/>
          <p:cNvSpPr txBox="1"/>
          <p:nvPr/>
        </p:nvSpPr>
        <p:spPr>
          <a:xfrm>
            <a:off x="960120" y="4197096"/>
            <a:ext cx="4937760" cy="3200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 success, id, data } with URLs for new and kept images.</a:t>
            </a:r>
            <a:endParaRPr lang="en-US" sz="1200" dirty="0"/>
          </a:p>
        </p:txBody>
      </p:sp>
      <p:sp>
        <p:nvSpPr>
          <p:cNvPr id="22" name="Order"/>
          <p:cNvSpPr/>
          <p:nvPr/>
        </p:nvSpPr>
        <p:spPr>
          <a:xfrm>
            <a:off x="6217920" y="1143000"/>
            <a:ext cx="2468880" cy="3246120"/>
          </a:xfrm>
          <a:prstGeom prst="roundRect">
            <a:avLst>
              <a:gd name="adj" fmla="val 2963"/>
            </a:avLst>
          </a:prstGeom>
          <a:solidFill>
            <a:schemeClr val="accent1"/>
          </a:solidFill>
          <a:ln/>
          <a:effectLst>
            <a:outerShdw sx="100000" sy="100000" kx="0" ky="0" algn="bl" rotWithShape="0" blurRad="76200" dist="25400" dir="5400000">
              <a:srgbClr val="000000">
                <a:alpha val="12000"/>
              </a:srgbClr>
            </a:outerShdw>
          </a:effectLst>
        </p:spPr>
      </p:sp>
      <p:sp>
        <p:nvSpPr>
          <p:cNvPr id="23" name="Text 20"/>
          <p:cNvSpPr txBox="1"/>
          <p:nvPr/>
        </p:nvSpPr>
        <p:spPr>
          <a:xfrm>
            <a:off x="6355080" y="1280160"/>
            <a:ext cx="2194560" cy="27432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Order matters</a:t>
            </a:r>
            <a:endParaRPr lang="en-US" sz="1500" dirty="0"/>
          </a:p>
        </p:txBody>
      </p:sp>
      <p:sp>
        <p:nvSpPr>
          <p:cNvPr id="24" name="Text 21"/>
          <p:cNvSpPr txBox="1"/>
          <p:nvPr/>
        </p:nvSpPr>
        <p:spPr>
          <a:xfrm>
            <a:off x="6355080" y="1691640"/>
            <a:ext cx="2194560" cy="1463040"/>
          </a:xfrm>
          <a:prstGeom prst="rect">
            <a:avLst/>
          </a:prstGeom>
          <a:noFill/>
          <a:ln/>
        </p:spPr>
        <p:txBody>
          <a:bodyPr wrap="square" lIns="0" tIns="0" rIns="0" bIns="0" rtlCol="0" anchor="t"/>
          <a:lstStyle/>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1  Validate</a:t>
            </a:r>
            <a:endParaRPr lang="en-US" sz="1400" dirty="0"/>
          </a:p>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2  Write new files</a:t>
            </a:r>
            <a:endParaRPr lang="en-US" sz="1400" dirty="0"/>
          </a:p>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3  Save the database</a:t>
            </a:r>
            <a:endParaRPr lang="en-US" sz="1400" dirty="0"/>
          </a:p>
          <a:p>
            <a:pPr indent="0" marL="0">
              <a:spcAft>
                <a:spcPts val="800"/>
              </a:spcAft>
              <a:buNone/>
            </a:pPr>
            <a:r>
              <a:rPr lang="en-US" sz="1400" dirty="0">
                <a:solidFill>
                  <a:schemeClr val="bg1"/>
                </a:solidFill>
                <a:latin typeface="Calibri" pitchFamily="34" charset="0"/>
                <a:ea typeface="Calibri" pitchFamily="34" charset="-122"/>
                <a:cs typeface="Calibri" pitchFamily="34" charset="-120"/>
              </a:rPr>
              <a:t>4  Delete old files</a:t>
            </a:r>
            <a:endParaRPr lang="en-US" sz="1400" dirty="0"/>
          </a:p>
        </p:txBody>
      </p:sp>
      <p:sp>
        <p:nvSpPr>
          <p:cNvPr id="25" name="Text 22"/>
          <p:cNvSpPr txBox="1"/>
          <p:nvPr/>
        </p:nvSpPr>
        <p:spPr>
          <a:xfrm>
            <a:off x="6355080" y="3246120"/>
            <a:ext cx="2194560" cy="109728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Database first, deletes last, so the database never points at a missing file.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cases: your four</a:t>
            </a:r>
            <a:endParaRPr lang="en-US" sz="3200" dirty="0"/>
          </a:p>
        </p:txBody>
      </p:sp>
      <p:graphicFrame>
        <p:nvGraphicFramePr>
          <p:cNvPr id="15" name="Cases A"/>
          <p:cNvGraphicFramePr>
            <a:graphicFrameLocks noGrp="1"/>
          </p:cNvGraphicFramePr>
          <p:nvPr>
            <p:extLst>
              <p:ext uri="{D42A27DB-BD31-4B8C-83A1-F6EECF244321}">
                <p14:modId xmlns:p14="http://schemas.microsoft.com/office/powerpoint/2010/main" val="1579011935"/>
              </p:ext>
            </p:extLst>
          </p:nvPr>
        </p:nvGraphicFramePr>
        <p:xfrm>
          <a:off x="457200" y="1188720"/>
          <a:ext cx="6858000" cy="914400"/>
        </p:xfrm>
        <a:graphic>
          <a:graphicData uri="http://schemas.openxmlformats.org/drawingml/2006/table">
            <a:tbl>
              <a:tblPr/>
              <a:tblGrid>
                <a:gridCol w="1965960"/>
                <a:gridCol w="2423160"/>
                <a:gridCol w="2194560"/>
                <a:gridCol w="164592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UI sends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Backend does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Database and disk</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67665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1  Add 2 new images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1 kept URL</a:t>
                      </a:r>
                      <a:pPr indent="0" marL="0">
                        <a:buNone/>
                      </a:pPr>
                      <a:r>
                        <a:rPr lang="en-US" sz="1200" dirty="0">
                          <a:solidFill>
                            <a:schemeClr val="tx1"/>
                          </a:solidFill>
                          <a:latin typeface="Calibri" pitchFamily="34" charset="0"/>
                          <a:ea typeface="Calibri" pitchFamily="34" charset="-122"/>
                          <a:cs typeface="Calibri" pitchFamily="34" charset="-120"/>
                        </a:rPr>
                        <a:t> + </a:t>
                      </a:r>
                      <a:pPr indent="0" marL="0">
                        <a:buNone/>
                      </a:pPr>
                      <a:r>
                        <a:rPr lang="en-US" sz="1200" b="1" dirty="0">
                          <a:solidFill>
                            <a:schemeClr val="accent6"/>
                          </a:solidFill>
                          <a:latin typeface="Calibri" pitchFamily="34" charset="0"/>
                          <a:ea typeface="Calibri" pitchFamily="34" charset="-122"/>
                          <a:cs typeface="Calibri" pitchFamily="34" charset="-120"/>
                        </a:rPr>
                        <a:t>2 new ids</a:t>
                      </a:r>
                      <a:pPr indent="0" marL="0">
                        <a:buNone/>
                      </a:pPr>
                      <a:r>
                        <a:rPr lang="en-US" sz="1200" dirty="0">
                          <a:solidFill>
                            <a:schemeClr val="tx1"/>
                          </a:solidFill>
                          <a:latin typeface="Calibri" pitchFamily="34" charset="0"/>
                          <a:ea typeface="Calibri" pitchFamily="34" charset="-122"/>
                          <a:cs typeface="Calibri" pitchFamily="34" charset="-120"/>
                        </a:rPr>
                        <a:t> and 2 files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the 2 files, keeps the URL</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 image rows (position 0 to 2)</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67665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2  Replace 1 image + add 1</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latin typeface="Calibri" pitchFamily="34" charset="0"/>
                          <a:ea typeface="Calibri" pitchFamily="34" charset="-122"/>
                          <a:cs typeface="Calibri" pitchFamily="34" charset="-120"/>
                        </a:rPr>
                        <a:t>new id</a:t>
                      </a:r>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accent4"/>
                          </a:solidFill>
                          <a:latin typeface="Calibri" pitchFamily="34" charset="0"/>
                          <a:ea typeface="Calibri" pitchFamily="34" charset="-122"/>
                          <a:cs typeface="Calibri" pitchFamily="34" charset="-120"/>
                        </a:rPr>
                        <a:t>kept URL</a:t>
                      </a:r>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accent6"/>
                          </a:solidFill>
                          <a:latin typeface="Calibri" pitchFamily="34" charset="0"/>
                          <a:ea typeface="Calibri" pitchFamily="34" charset="-122"/>
                          <a:cs typeface="Calibri" pitchFamily="34" charset="-120"/>
                        </a:rPr>
                        <a:t>new id</a:t>
                      </a:r>
                      <a:pPr indent="0" marL="0">
                        <a:buNone/>
                      </a:pPr>
                      <a:r>
                        <a:rPr lang="en-US" sz="1200" dirty="0">
                          <a:solidFill>
                            <a:schemeClr val="tx1"/>
                          </a:solidFill>
                          <a:latin typeface="Calibri" pitchFamily="34" charset="0"/>
                          <a:ea typeface="Calibri" pitchFamily="34" charset="-122"/>
                          <a:cs typeface="Calibri" pitchFamily="34" charset="-120"/>
                        </a:rPr>
                        <a:t> and 2 files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2 files, then deletes the replaced one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 rows. 2 files in, 1 file out</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67665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3  Remove 1 + add 1</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1 kept URL</a:t>
                      </a:r>
                      <a:pPr indent="0" marL="0">
                        <a:buNone/>
                      </a:pPr>
                      <a:r>
                        <a:rPr lang="en-US" sz="1200" dirty="0">
                          <a:solidFill>
                            <a:schemeClr val="tx1"/>
                          </a:solidFill>
                          <a:latin typeface="Calibri" pitchFamily="34" charset="0"/>
                          <a:ea typeface="Calibri" pitchFamily="34" charset="-122"/>
                          <a:cs typeface="Calibri" pitchFamily="34" charset="-120"/>
                        </a:rPr>
                        <a:t> + </a:t>
                      </a:r>
                      <a:pPr indent="0" marL="0">
                        <a:buNone/>
                      </a:pPr>
                      <a:r>
                        <a:rPr lang="en-US" sz="1200" b="1" dirty="0">
                          <a:solidFill>
                            <a:schemeClr val="accent6"/>
                          </a:solidFill>
                          <a:latin typeface="Calibri" pitchFamily="34" charset="0"/>
                          <a:ea typeface="Calibri" pitchFamily="34" charset="-122"/>
                          <a:cs typeface="Calibri" pitchFamily="34" charset="-120"/>
                        </a:rPr>
                        <a:t>1 new id</a:t>
                      </a:r>
                      <a:pPr indent="0" marL="0">
                        <a:buNone/>
                      </a:pPr>
                      <a:r>
                        <a:rPr lang="en-US" sz="1200" dirty="0">
                          <a:solidFill>
                            <a:schemeClr val="tx1"/>
                          </a:solidFill>
                          <a:latin typeface="Calibri" pitchFamily="34" charset="0"/>
                          <a:ea typeface="Calibri" pitchFamily="34" charset="-122"/>
                          <a:cs typeface="Calibri" pitchFamily="34" charset="-120"/>
                        </a:rPr>
                        <a:t> and 1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1 file, deletes the </a:t>
                      </a:r>
                      <a:pPr indent="0" marL="0">
                        <a:buNone/>
                      </a:pPr>
                      <a:r>
                        <a:rPr lang="en-US" sz="1200" b="1" dirty="0">
                          <a:solidFill>
                            <a:schemeClr val="accent3"/>
                          </a:solidFill>
                          <a:latin typeface="Calibri" pitchFamily="34" charset="0"/>
                          <a:ea typeface="Calibri" pitchFamily="34" charset="-122"/>
                          <a:cs typeface="Calibri" pitchFamily="34" charset="-120"/>
                        </a:rPr>
                        <a:t>omitted</a:t>
                      </a:r>
                      <a:pPr indent="0" marL="0">
                        <a:buNone/>
                      </a:pPr>
                      <a:r>
                        <a:rPr lang="en-US" sz="1200" dirty="0">
                          <a:solidFill>
                            <a:schemeClr val="tx1"/>
                          </a:solidFill>
                          <a:latin typeface="Calibri" pitchFamily="34" charset="0"/>
                          <a:ea typeface="Calibri" pitchFamily="34" charset="-122"/>
                          <a:cs typeface="Calibri" pitchFamily="34" charset="-120"/>
                        </a:rPr>
                        <a:t> one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 rows. 1 file in, 1 file out</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67665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4  Remove all + add 1</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latin typeface="Calibri" pitchFamily="34" charset="0"/>
                          <a:ea typeface="Calibri" pitchFamily="34" charset="-122"/>
                          <a:cs typeface="Calibri" pitchFamily="34" charset="-120"/>
                        </a:rPr>
                        <a:t>1 new id</a:t>
                      </a:r>
                      <a:pPr indent="0" marL="0">
                        <a:buNone/>
                      </a:pPr>
                      <a:r>
                        <a:rPr lang="en-US" sz="1200" dirty="0">
                          <a:solidFill>
                            <a:schemeClr val="tx1"/>
                          </a:solidFill>
                          <a:latin typeface="Calibri" pitchFamily="34" charset="0"/>
                          <a:ea typeface="Calibri" pitchFamily="34" charset="-122"/>
                          <a:cs typeface="Calibri" pitchFamily="34" charset="-120"/>
                        </a:rPr>
                        <a:t> and 1 file, </a:t>
                      </a:r>
                      <a:pPr indent="0" marL="0">
                        <a:buNone/>
                      </a:pPr>
                      <a:r>
                        <a:rPr lang="en-US" sz="1200" b="1" dirty="0">
                          <a:solidFill>
                            <a:schemeClr val="accent3"/>
                          </a:solidFill>
                          <a:latin typeface="Calibri" pitchFamily="34" charset="0"/>
                          <a:ea typeface="Calibri" pitchFamily="34" charset="-122"/>
                          <a:cs typeface="Calibri" pitchFamily="34" charset="-120"/>
                        </a:rPr>
                        <a:t>no URLs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1 file, deletes both old files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 row. 1 file in, 2 files out</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457200" y="4370832"/>
            <a:ext cx="5486400" cy="2743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Legend: </a:t>
            </a:r>
            <a:pPr indent="0" marL="0">
              <a:buNone/>
            </a:pPr>
            <a:r>
              <a:rPr lang="en-US" sz="1200" b="1" dirty="0">
                <a:solidFill>
                  <a:schemeClr val="accent4"/>
                </a:solidFill>
                <a:latin typeface="Calibri" pitchFamily="34" charset="0"/>
                <a:ea typeface="Calibri" pitchFamily="34" charset="-122"/>
                <a:cs typeface="Calibri" pitchFamily="34" charset="-120"/>
              </a:rPr>
              <a:t>kept</a:t>
            </a:r>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accent6"/>
                </a:solidFill>
                <a:latin typeface="Calibri" pitchFamily="34" charset="0"/>
                <a:ea typeface="Calibri" pitchFamily="34" charset="-122"/>
                <a:cs typeface="Calibri" pitchFamily="34" charset="-120"/>
              </a:rPr>
              <a:t>new</a:t>
            </a:r>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accent3"/>
                </a:solidFill>
                <a:latin typeface="Calibri" pitchFamily="34" charset="0"/>
                <a:ea typeface="Calibri" pitchFamily="34" charset="-122"/>
                <a:cs typeface="Calibri" pitchFamily="34" charset="-120"/>
              </a:rPr>
              <a:t>removed</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cases: more images</a:t>
            </a:r>
            <a:endParaRPr lang="en-US" sz="3200" dirty="0"/>
          </a:p>
        </p:txBody>
      </p:sp>
      <p:sp>
        <p:nvSpPr>
          <p:cNvPr id="4" name="Edit description only"/>
          <p:cNvSpPr/>
          <p:nvPr/>
        </p:nvSpPr>
        <p:spPr>
          <a:xfrm>
            <a:off x="457200" y="1188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5" name="Text 2"/>
          <p:cNvSpPr txBox="1"/>
          <p:nvPr/>
        </p:nvSpPr>
        <p:spPr>
          <a:xfrm>
            <a:off x="594360" y="1280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Edit description only</a:t>
            </a:r>
            <a:endParaRPr lang="en-US" sz="1300" dirty="0"/>
          </a:p>
        </p:txBody>
      </p:sp>
      <p:sp>
        <p:nvSpPr>
          <p:cNvPr id="6" name="Text 3"/>
          <p:cNvSpPr txBox="1"/>
          <p:nvPr/>
        </p:nvSpPr>
        <p:spPr>
          <a:xfrm>
            <a:off x="594360" y="1554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Kept URLs with new text, no files. Rows updated, files untouched.</a:t>
            </a:r>
            <a:endParaRPr lang="en-US" sz="1200" dirty="0"/>
          </a:p>
        </p:txBody>
      </p:sp>
      <p:sp>
        <p:nvSpPr>
          <p:cNvPr id="7" name="Reorder"/>
          <p:cNvSpPr/>
          <p:nvPr/>
        </p:nvSpPr>
        <p:spPr>
          <a:xfrm>
            <a:off x="3268980" y="1188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8" name="Text 5"/>
          <p:cNvSpPr txBox="1"/>
          <p:nvPr/>
        </p:nvSpPr>
        <p:spPr>
          <a:xfrm>
            <a:off x="3406140" y="1280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Reorder</a:t>
            </a:r>
            <a:endParaRPr lang="en-US" sz="1300" dirty="0"/>
          </a:p>
        </p:txBody>
      </p:sp>
      <p:sp>
        <p:nvSpPr>
          <p:cNvPr id="9" name="Text 6"/>
          <p:cNvSpPr txBox="1"/>
          <p:nvPr/>
        </p:nvSpPr>
        <p:spPr>
          <a:xfrm>
            <a:off x="3406140" y="1554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Kept URLs in the new order. Positions rewritten, files untouched.</a:t>
            </a:r>
            <a:endParaRPr lang="en-US" sz="1200" dirty="0"/>
          </a:p>
        </p:txBody>
      </p:sp>
      <p:sp>
        <p:nvSpPr>
          <p:cNvPr id="10" name="Remove 1, add nothing"/>
          <p:cNvSpPr/>
          <p:nvPr/>
        </p:nvSpPr>
        <p:spPr>
          <a:xfrm>
            <a:off x="6080760" y="1188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1" name="Text 8"/>
          <p:cNvSpPr txBox="1"/>
          <p:nvPr/>
        </p:nvSpPr>
        <p:spPr>
          <a:xfrm>
            <a:off x="6217920" y="1280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Remove 1, add nothing</a:t>
            </a:r>
            <a:endParaRPr lang="en-US" sz="1300" dirty="0"/>
          </a:p>
        </p:txBody>
      </p:sp>
      <p:sp>
        <p:nvSpPr>
          <p:cNvPr id="12" name="Text 9"/>
          <p:cNvSpPr txBox="1"/>
          <p:nvPr/>
        </p:nvSpPr>
        <p:spPr>
          <a:xfrm>
            <a:off x="6217920" y="1554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Entry left out. Its row and its file are deleted.</a:t>
            </a:r>
            <a:endParaRPr lang="en-US" sz="1200" dirty="0"/>
          </a:p>
        </p:txBody>
      </p:sp>
      <p:sp>
        <p:nvSpPr>
          <p:cNvPr id="13" name="Replace every image"/>
          <p:cNvSpPr/>
          <p:nvPr/>
        </p:nvSpPr>
        <p:spPr>
          <a:xfrm>
            <a:off x="457200" y="2331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4" name="Text 11"/>
          <p:cNvSpPr txBox="1"/>
          <p:nvPr/>
        </p:nvSpPr>
        <p:spPr>
          <a:xfrm>
            <a:off x="594360" y="2423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Replace every image</a:t>
            </a:r>
            <a:endParaRPr lang="en-US" sz="1300" dirty="0"/>
          </a:p>
        </p:txBody>
      </p:sp>
      <p:sp>
        <p:nvSpPr>
          <p:cNvPr id="15" name="Text 12"/>
          <p:cNvSpPr txBox="1"/>
          <p:nvPr/>
        </p:nvSpPr>
        <p:spPr>
          <a:xfrm>
            <a:off x="594360" y="2697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All new ids and files. Old rows and files are replaced.</a:t>
            </a:r>
            <a:endParaRPr lang="en-US" sz="1200" dirty="0"/>
          </a:p>
        </p:txBody>
      </p:sp>
      <p:sp>
        <p:nvSpPr>
          <p:cNvPr id="16" name="Same picture twice"/>
          <p:cNvSpPr/>
          <p:nvPr/>
        </p:nvSpPr>
        <p:spPr>
          <a:xfrm>
            <a:off x="3268980" y="2331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7" name="Text 14"/>
          <p:cNvSpPr txBox="1"/>
          <p:nvPr/>
        </p:nvSpPr>
        <p:spPr>
          <a:xfrm>
            <a:off x="3406140" y="2423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Same picture twice</a:t>
            </a:r>
            <a:endParaRPr lang="en-US" sz="1300" dirty="0"/>
          </a:p>
        </p:txBody>
      </p:sp>
      <p:sp>
        <p:nvSpPr>
          <p:cNvPr id="18" name="Text 15"/>
          <p:cNvSpPr txBox="1"/>
          <p:nvPr/>
        </p:nvSpPr>
        <p:spPr>
          <a:xfrm>
            <a:off x="3406140" y="2697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Two ids, two files. Two rows with two different URLs.</a:t>
            </a:r>
            <a:endParaRPr lang="en-US" sz="1200" dirty="0"/>
          </a:p>
        </p:txBody>
      </p:sp>
      <p:sp>
        <p:nvSpPr>
          <p:cNvPr id="19" name="Grow to 10 images"/>
          <p:cNvSpPr/>
          <p:nvPr/>
        </p:nvSpPr>
        <p:spPr>
          <a:xfrm>
            <a:off x="6080760" y="2331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20" name="Text 17"/>
          <p:cNvSpPr txBox="1"/>
          <p:nvPr/>
        </p:nvSpPr>
        <p:spPr>
          <a:xfrm>
            <a:off x="6217920" y="2423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Grow to 10 images</a:t>
            </a:r>
            <a:endParaRPr lang="en-US" sz="1300" dirty="0"/>
          </a:p>
        </p:txBody>
      </p:sp>
      <p:sp>
        <p:nvSpPr>
          <p:cNvPr id="21" name="Text 18"/>
          <p:cNvSpPr txBox="1"/>
          <p:nvPr/>
        </p:nvSpPr>
        <p:spPr>
          <a:xfrm>
            <a:off x="6217920" y="2697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1 kept + 9 new is fine. An 11th image is rejected.</a:t>
            </a:r>
            <a:endParaRPr lang="en-US" sz="1200" dirty="0"/>
          </a:p>
        </p:txBody>
      </p:sp>
      <p:sp>
        <p:nvSpPr>
          <p:cNvPr id="22" name="Resend as is"/>
          <p:cNvSpPr/>
          <p:nvPr/>
        </p:nvSpPr>
        <p:spPr>
          <a:xfrm>
            <a:off x="457200" y="3474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23" name="Text 20"/>
          <p:cNvSpPr txBox="1"/>
          <p:nvPr/>
        </p:nvSpPr>
        <p:spPr>
          <a:xfrm>
            <a:off x="594360" y="3566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Resend as is</a:t>
            </a:r>
            <a:endParaRPr lang="en-US" sz="1300" dirty="0"/>
          </a:p>
        </p:txBody>
      </p:sp>
      <p:sp>
        <p:nvSpPr>
          <p:cNvPr id="24" name="Text 21"/>
          <p:cNvSpPr txBox="1"/>
          <p:nvPr/>
        </p:nvSpPr>
        <p:spPr>
          <a:xfrm>
            <a:off x="594360" y="3840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Nothing changes: the same rows, no files touched.</a:t>
            </a:r>
            <a:endParaRPr lang="en-US" sz="1200" dirty="0"/>
          </a:p>
        </p:txBody>
      </p:sp>
      <p:sp>
        <p:nvSpPr>
          <p:cNvPr id="25" name="Clear a description"/>
          <p:cNvSpPr/>
          <p:nvPr/>
        </p:nvSpPr>
        <p:spPr>
          <a:xfrm>
            <a:off x="3268980" y="3474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26" name="Text 23"/>
          <p:cNvSpPr txBox="1"/>
          <p:nvPr/>
        </p:nvSpPr>
        <p:spPr>
          <a:xfrm>
            <a:off x="3406140" y="3566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Clear a description</a:t>
            </a:r>
            <a:endParaRPr lang="en-US" sz="1300" dirty="0"/>
          </a:p>
        </p:txBody>
      </p:sp>
      <p:sp>
        <p:nvSpPr>
          <p:cNvPr id="27" name="Text 24"/>
          <p:cNvSpPr txBox="1"/>
          <p:nvPr/>
        </p:nvSpPr>
        <p:spPr>
          <a:xfrm>
            <a:off x="3406140" y="3840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An empty string is saved as an empty description.</a:t>
            </a:r>
            <a:endParaRPr lang="en-US" sz="1200" dirty="0"/>
          </a:p>
        </p:txBody>
      </p:sp>
      <p:sp>
        <p:nvSpPr>
          <p:cNvPr id="28" name="New image first"/>
          <p:cNvSpPr/>
          <p:nvPr/>
        </p:nvSpPr>
        <p:spPr>
          <a:xfrm>
            <a:off x="6080760" y="3474720"/>
            <a:ext cx="260604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29" name="Text 26"/>
          <p:cNvSpPr txBox="1"/>
          <p:nvPr/>
        </p:nvSpPr>
        <p:spPr>
          <a:xfrm>
            <a:off x="6217920" y="3566160"/>
            <a:ext cx="2331720" cy="256032"/>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New image first</a:t>
            </a:r>
            <a:endParaRPr lang="en-US" sz="1300" dirty="0"/>
          </a:p>
        </p:txBody>
      </p:sp>
      <p:sp>
        <p:nvSpPr>
          <p:cNvPr id="30" name="Text 27"/>
          <p:cNvSpPr txBox="1"/>
          <p:nvPr/>
        </p:nvSpPr>
        <p:spPr>
          <a:xfrm>
            <a:off x="6217920" y="3840480"/>
            <a:ext cx="2331720" cy="5943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new id listed first becomes position 0.</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 cases: the PDF</a:t>
            </a:r>
            <a:endParaRPr lang="en-US" sz="3200" dirty="0"/>
          </a:p>
        </p:txBody>
      </p:sp>
      <p:graphicFrame>
        <p:nvGraphicFramePr>
          <p:cNvPr id="17" name="Cases PDF"/>
          <p:cNvGraphicFramePr>
            <a:graphicFrameLocks noGrp="1"/>
          </p:cNvGraphicFramePr>
          <p:nvPr>
            <p:extLst>
              <p:ext uri="{D42A27DB-BD31-4B8C-83A1-F6EECF244321}">
                <p14:modId xmlns:p14="http://schemas.microsoft.com/office/powerpoint/2010/main" val="1579011935"/>
              </p:ext>
            </p:extLst>
          </p:nvPr>
        </p:nvGraphicFramePr>
        <p:xfrm>
          <a:off x="457200" y="1188720"/>
          <a:ext cx="6858000" cy="914400"/>
        </p:xfrm>
        <a:graphic>
          <a:graphicData uri="http://schemas.openxmlformats.org/drawingml/2006/table">
            <a:tbl>
              <a:tblPr/>
              <a:tblGrid>
                <a:gridCol w="1645920"/>
                <a:gridCol w="2651760"/>
                <a:gridCol w="2286000"/>
                <a:gridCol w="164592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Case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UI sends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Backend does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Database and disk</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58521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Add a 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had none; </a:t>
                      </a:r>
                      <a:pPr indent="0" marL="0">
                        <a:buNone/>
                      </a:pPr>
                      <a:r>
                        <a:rPr lang="en-US" sz="1200" b="1" dirty="0">
                          <a:solidFill>
                            <a:schemeClr val="accent6"/>
                          </a:solidFill>
                          <a:latin typeface="Calibri" pitchFamily="34" charset="0"/>
                          <a:ea typeface="Calibri" pitchFamily="34" charset="-122"/>
                          <a:cs typeface="Calibri" pitchFamily="34" charset="-120"/>
                        </a:rPr>
                        <a:t>"product-pdf"</a:t>
                      </a:r>
                      <a:pPr indent="0" marL="0">
                        <a:buNone/>
                      </a:pPr>
                      <a:r>
                        <a:rPr lang="en-US" sz="1200" dirty="0">
                          <a:solidFill>
                            <a:schemeClr val="tx1"/>
                          </a:solidFill>
                          <a:latin typeface="Calibri" pitchFamily="34" charset="0"/>
                          <a:ea typeface="Calibri" pitchFamily="34" charset="-122"/>
                          <a:cs typeface="Calibri" pitchFamily="34" charset="-120"/>
                        </a:rPr>
                        <a:t> + a PDF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the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pdf_url set. 1 file in</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Replace the 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6"/>
                          </a:solidFill>
                          <a:latin typeface="Calibri" pitchFamily="34" charset="0"/>
                          <a:ea typeface="Calibri" pitchFamily="34" charset="-122"/>
                          <a:cs typeface="Calibri" pitchFamily="34" charset="-120"/>
                        </a:rPr>
                        <a:t>new id</a:t>
                      </a:r>
                      <a:pPr indent="0" marL="0">
                        <a:buNone/>
                      </a:pPr>
                      <a:r>
                        <a:rPr lang="en-US" sz="1200" dirty="0">
                          <a:solidFill>
                            <a:schemeClr val="tx1"/>
                          </a:solidFill>
                          <a:latin typeface="Calibri" pitchFamily="34" charset="0"/>
                          <a:ea typeface="Calibri" pitchFamily="34" charset="-122"/>
                          <a:cs typeface="Calibri" pitchFamily="34" charset="-120"/>
                        </a:rPr>
                        <a:t> + new PDF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Stores the new file, deletes the old one after saving</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pdf_url is the new URL. Old file gone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Keep the 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current URL</a:t>
                      </a:r>
                      <a:pPr indent="0" marL="0">
                        <a:buNone/>
                      </a:pPr>
                      <a:r>
                        <a:rPr lang="en-US" sz="1200" dirty="0">
                          <a:solidFill>
                            <a:schemeClr val="tx1"/>
                          </a:solidFill>
                          <a:latin typeface="Calibri" pitchFamily="34" charset="0"/>
                          <a:ea typeface="Calibri" pitchFamily="34" charset="-122"/>
                          <a:cs typeface="Calibri" pitchFamily="34" charset="-120"/>
                        </a:rPr>
                        <a:t>, no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Leaves it alone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Unchanged</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58521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Remove the 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3"/>
                          </a:solidFill>
                          <a:latin typeface="Calibri" pitchFamily="34" charset="0"/>
                          <a:ea typeface="Calibri" pitchFamily="34" charset="-122"/>
                          <a:cs typeface="Calibri" pitchFamily="34" charset="-120"/>
                        </a:rPr>
                        <a:t>PDF left out</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Clears it and deletes the file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pdf_url empty. File gone</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585216">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Mismatch</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id without a file, a file without an id, or not a PDF</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latin typeface="Calibri" pitchFamily="34" charset="0"/>
                          <a:ea typeface="Calibri" pitchFamily="34" charset="-122"/>
                          <a:cs typeface="Calibri" pitchFamily="34" charset="-120"/>
                        </a:rPr>
                        <a:t>Rejects: 400</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Nothing changes</a:t>
                      </a:r>
                      <a:endParaRPr lang="en-US" sz="12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Updates that are rejected</a:t>
            </a:r>
            <a:endParaRPr lang="en-US" sz="3200" dirty="0"/>
          </a:p>
        </p:txBody>
      </p:sp>
      <p:sp>
        <p:nvSpPr>
          <p:cNvPr id="4" name="Rejected update"/>
          <p:cNvSpPr/>
          <p:nvPr/>
        </p:nvSpPr>
        <p:spPr>
          <a:xfrm>
            <a:off x="457200" y="1188720"/>
            <a:ext cx="4023360" cy="548640"/>
          </a:xfrm>
          <a:prstGeom prst="roundRect">
            <a:avLst>
              <a:gd name="adj" fmla="val 13333"/>
            </a:avLst>
          </a:prstGeom>
          <a:solidFill>
            <a:schemeClr val="bg2"/>
          </a:solidFill>
          <a:ln/>
        </p:spPr>
      </p:sp>
      <p:sp>
        <p:nvSpPr>
          <p:cNvPr id="5" name="Rejected circle"/>
          <p:cNvSpPr/>
          <p:nvPr/>
        </p:nvSpPr>
        <p:spPr>
          <a:xfrm>
            <a:off x="548640" y="1280160"/>
            <a:ext cx="365760" cy="365760"/>
          </a:xfrm>
          <a:prstGeom prst="ellipse">
            <a:avLst/>
          </a:prstGeom>
          <a:solidFill>
            <a:schemeClr val="accent3"/>
          </a:solidFill>
          <a:ln/>
        </p:spPr>
      </p:sp>
      <p:pic>
        <p:nvPicPr>
          <p:cNvPr id="6" name="Image 0" descr="Rejected">    </p:cNvPr>
          <p:cNvPicPr>
            <a:picLocks noChangeAspect="1"/>
          </p:cNvPicPr>
          <p:nvPr/>
        </p:nvPicPr>
        <p:blipFill>
          <a:blip r:embed="rId1"/>
          <a:stretch>
            <a:fillRect/>
          </a:stretch>
        </p:blipFill>
        <p:spPr>
          <a:xfrm>
            <a:off x="640080" y="1371600"/>
            <a:ext cx="182880" cy="182880"/>
          </a:xfrm>
          <a:prstGeom prst="rect">
            <a:avLst/>
          </a:prstGeom>
        </p:spPr>
      </p:pic>
      <p:sp>
        <p:nvSpPr>
          <p:cNvPr id="7" name="Text 3"/>
          <p:cNvSpPr txBox="1"/>
          <p:nvPr/>
        </p:nvSpPr>
        <p:spPr>
          <a:xfrm>
            <a:off x="1051560" y="118872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Remove all images and add none</a:t>
            </a:r>
            <a:endParaRPr lang="en-US" sz="1300" dirty="0"/>
          </a:p>
        </p:txBody>
      </p:sp>
      <p:sp>
        <p:nvSpPr>
          <p:cNvPr id="8" name="Rejected update"/>
          <p:cNvSpPr/>
          <p:nvPr/>
        </p:nvSpPr>
        <p:spPr>
          <a:xfrm>
            <a:off x="457200" y="1828800"/>
            <a:ext cx="4023360" cy="548640"/>
          </a:xfrm>
          <a:prstGeom prst="roundRect">
            <a:avLst>
              <a:gd name="adj" fmla="val 13333"/>
            </a:avLst>
          </a:prstGeom>
          <a:solidFill>
            <a:schemeClr val="bg2"/>
          </a:solidFill>
          <a:ln/>
        </p:spPr>
      </p:sp>
      <p:sp>
        <p:nvSpPr>
          <p:cNvPr id="9" name="Rejected circle"/>
          <p:cNvSpPr/>
          <p:nvPr/>
        </p:nvSpPr>
        <p:spPr>
          <a:xfrm>
            <a:off x="548640" y="1920240"/>
            <a:ext cx="365760" cy="365760"/>
          </a:xfrm>
          <a:prstGeom prst="ellipse">
            <a:avLst/>
          </a:prstGeom>
          <a:solidFill>
            <a:schemeClr val="accent3"/>
          </a:solidFill>
          <a:ln/>
        </p:spPr>
      </p:sp>
      <p:pic>
        <p:nvPicPr>
          <p:cNvPr id="10" name="Image 1" descr="Rejected">    </p:cNvPr>
          <p:cNvPicPr>
            <a:picLocks noChangeAspect="1"/>
          </p:cNvPicPr>
          <p:nvPr/>
        </p:nvPicPr>
        <p:blipFill>
          <a:blip r:embed="rId2"/>
          <a:stretch>
            <a:fillRect/>
          </a:stretch>
        </p:blipFill>
        <p:spPr>
          <a:xfrm>
            <a:off x="640080" y="2011680"/>
            <a:ext cx="182880" cy="182880"/>
          </a:xfrm>
          <a:prstGeom prst="rect">
            <a:avLst/>
          </a:prstGeom>
        </p:spPr>
      </p:pic>
      <p:sp>
        <p:nvSpPr>
          <p:cNvPr id="11" name="Text 6"/>
          <p:cNvSpPr txBox="1"/>
          <p:nvPr/>
        </p:nvSpPr>
        <p:spPr>
          <a:xfrm>
            <a:off x="1051560" y="182880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More than 10 images in total</a:t>
            </a:r>
            <a:endParaRPr lang="en-US" sz="1300" dirty="0"/>
          </a:p>
        </p:txBody>
      </p:sp>
      <p:sp>
        <p:nvSpPr>
          <p:cNvPr id="12" name="Rejected update"/>
          <p:cNvSpPr/>
          <p:nvPr/>
        </p:nvSpPr>
        <p:spPr>
          <a:xfrm>
            <a:off x="457200" y="2468880"/>
            <a:ext cx="4023360" cy="548640"/>
          </a:xfrm>
          <a:prstGeom prst="roundRect">
            <a:avLst>
              <a:gd name="adj" fmla="val 13333"/>
            </a:avLst>
          </a:prstGeom>
          <a:solidFill>
            <a:schemeClr val="bg2"/>
          </a:solidFill>
          <a:ln/>
        </p:spPr>
      </p:sp>
      <p:sp>
        <p:nvSpPr>
          <p:cNvPr id="13" name="Rejected circle"/>
          <p:cNvSpPr/>
          <p:nvPr/>
        </p:nvSpPr>
        <p:spPr>
          <a:xfrm>
            <a:off x="548640" y="2560320"/>
            <a:ext cx="365760" cy="365760"/>
          </a:xfrm>
          <a:prstGeom prst="ellipse">
            <a:avLst/>
          </a:prstGeom>
          <a:solidFill>
            <a:schemeClr val="accent3"/>
          </a:solidFill>
          <a:ln/>
        </p:spPr>
      </p:sp>
      <p:pic>
        <p:nvPicPr>
          <p:cNvPr id="14" name="Image 2" descr="Rejected">    </p:cNvPr>
          <p:cNvPicPr>
            <a:picLocks noChangeAspect="1"/>
          </p:cNvPicPr>
          <p:nvPr/>
        </p:nvPicPr>
        <p:blipFill>
          <a:blip r:embed="rId3"/>
          <a:stretch>
            <a:fillRect/>
          </a:stretch>
        </p:blipFill>
        <p:spPr>
          <a:xfrm>
            <a:off x="640080" y="2651760"/>
            <a:ext cx="182880" cy="182880"/>
          </a:xfrm>
          <a:prstGeom prst="rect">
            <a:avLst/>
          </a:prstGeom>
        </p:spPr>
      </p:pic>
      <p:sp>
        <p:nvSpPr>
          <p:cNvPr id="15" name="Text 9"/>
          <p:cNvSpPr txBox="1"/>
          <p:nvPr/>
        </p:nvSpPr>
        <p:spPr>
          <a:xfrm>
            <a:off x="1051560" y="246888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New image id without a file, or a file not listed</a:t>
            </a:r>
            <a:endParaRPr lang="en-US" sz="1300" dirty="0"/>
          </a:p>
        </p:txBody>
      </p:sp>
      <p:sp>
        <p:nvSpPr>
          <p:cNvPr id="16" name="Rejected update"/>
          <p:cNvSpPr/>
          <p:nvPr/>
        </p:nvSpPr>
        <p:spPr>
          <a:xfrm>
            <a:off x="457200" y="3108960"/>
            <a:ext cx="4023360" cy="548640"/>
          </a:xfrm>
          <a:prstGeom prst="roundRect">
            <a:avLst>
              <a:gd name="adj" fmla="val 13333"/>
            </a:avLst>
          </a:prstGeom>
          <a:solidFill>
            <a:schemeClr val="bg2"/>
          </a:solidFill>
          <a:ln/>
        </p:spPr>
      </p:sp>
      <p:sp>
        <p:nvSpPr>
          <p:cNvPr id="17" name="Rejected circle"/>
          <p:cNvSpPr/>
          <p:nvPr/>
        </p:nvSpPr>
        <p:spPr>
          <a:xfrm>
            <a:off x="548640" y="3200400"/>
            <a:ext cx="365760" cy="365760"/>
          </a:xfrm>
          <a:prstGeom prst="ellipse">
            <a:avLst/>
          </a:prstGeom>
          <a:solidFill>
            <a:schemeClr val="accent3"/>
          </a:solidFill>
          <a:ln/>
        </p:spPr>
      </p:sp>
      <p:pic>
        <p:nvPicPr>
          <p:cNvPr id="18" name="Image 3" descr="Rejected">    </p:cNvPr>
          <p:cNvPicPr>
            <a:picLocks noChangeAspect="1"/>
          </p:cNvPicPr>
          <p:nvPr/>
        </p:nvPicPr>
        <p:blipFill>
          <a:blip r:embed="rId4"/>
          <a:stretch>
            <a:fillRect/>
          </a:stretch>
        </p:blipFill>
        <p:spPr>
          <a:xfrm>
            <a:off x="640080" y="3291840"/>
            <a:ext cx="182880" cy="182880"/>
          </a:xfrm>
          <a:prstGeom prst="rect">
            <a:avLst/>
          </a:prstGeom>
        </p:spPr>
      </p:pic>
      <p:sp>
        <p:nvSpPr>
          <p:cNvPr id="19" name="Text 12"/>
          <p:cNvSpPr txBox="1"/>
          <p:nvPr/>
        </p:nvSpPr>
        <p:spPr>
          <a:xfrm>
            <a:off x="1051560" y="310896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Not an image, or an image over 5 MB</a:t>
            </a:r>
            <a:endParaRPr lang="en-US" sz="1300" dirty="0"/>
          </a:p>
        </p:txBody>
      </p:sp>
      <p:sp>
        <p:nvSpPr>
          <p:cNvPr id="20" name="Rejected update"/>
          <p:cNvSpPr/>
          <p:nvPr/>
        </p:nvSpPr>
        <p:spPr>
          <a:xfrm>
            <a:off x="457200" y="3749040"/>
            <a:ext cx="4023360" cy="548640"/>
          </a:xfrm>
          <a:prstGeom prst="roundRect">
            <a:avLst>
              <a:gd name="adj" fmla="val 13333"/>
            </a:avLst>
          </a:prstGeom>
          <a:solidFill>
            <a:schemeClr val="bg2"/>
          </a:solidFill>
          <a:ln/>
        </p:spPr>
      </p:sp>
      <p:sp>
        <p:nvSpPr>
          <p:cNvPr id="21" name="Rejected circle"/>
          <p:cNvSpPr/>
          <p:nvPr/>
        </p:nvSpPr>
        <p:spPr>
          <a:xfrm>
            <a:off x="548640" y="3840480"/>
            <a:ext cx="365760" cy="365760"/>
          </a:xfrm>
          <a:prstGeom prst="ellipse">
            <a:avLst/>
          </a:prstGeom>
          <a:solidFill>
            <a:schemeClr val="accent3"/>
          </a:solidFill>
          <a:ln/>
        </p:spPr>
      </p:sp>
      <p:pic>
        <p:nvPicPr>
          <p:cNvPr id="22" name="Image 4" descr="Rejected">    </p:cNvPr>
          <p:cNvPicPr>
            <a:picLocks noChangeAspect="1"/>
          </p:cNvPicPr>
          <p:nvPr/>
        </p:nvPicPr>
        <p:blipFill>
          <a:blip r:embed="rId5"/>
          <a:stretch>
            <a:fillRect/>
          </a:stretch>
        </p:blipFill>
        <p:spPr>
          <a:xfrm>
            <a:off x="640080" y="3931920"/>
            <a:ext cx="182880" cy="182880"/>
          </a:xfrm>
          <a:prstGeom prst="rect">
            <a:avLst/>
          </a:prstGeom>
        </p:spPr>
      </p:pic>
      <p:sp>
        <p:nvSpPr>
          <p:cNvPr id="23" name="Text 15"/>
          <p:cNvSpPr txBox="1"/>
          <p:nvPr/>
        </p:nvSpPr>
        <p:spPr>
          <a:xfrm>
            <a:off x="1051560" y="374904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URL that belongs to another product</a:t>
            </a:r>
            <a:endParaRPr lang="en-US" sz="1300" dirty="0"/>
          </a:p>
        </p:txBody>
      </p:sp>
      <p:sp>
        <p:nvSpPr>
          <p:cNvPr id="24" name="Rejected update"/>
          <p:cNvSpPr/>
          <p:nvPr/>
        </p:nvSpPr>
        <p:spPr>
          <a:xfrm>
            <a:off x="4663440" y="1188720"/>
            <a:ext cx="4023360" cy="548640"/>
          </a:xfrm>
          <a:prstGeom prst="roundRect">
            <a:avLst>
              <a:gd name="adj" fmla="val 13333"/>
            </a:avLst>
          </a:prstGeom>
          <a:solidFill>
            <a:schemeClr val="bg2"/>
          </a:solidFill>
          <a:ln/>
        </p:spPr>
      </p:sp>
      <p:sp>
        <p:nvSpPr>
          <p:cNvPr id="25" name="Rejected circle"/>
          <p:cNvSpPr/>
          <p:nvPr/>
        </p:nvSpPr>
        <p:spPr>
          <a:xfrm>
            <a:off x="4754880" y="1280160"/>
            <a:ext cx="365760" cy="365760"/>
          </a:xfrm>
          <a:prstGeom prst="ellipse">
            <a:avLst/>
          </a:prstGeom>
          <a:solidFill>
            <a:schemeClr val="accent3"/>
          </a:solidFill>
          <a:ln/>
        </p:spPr>
      </p:sp>
      <p:pic>
        <p:nvPicPr>
          <p:cNvPr id="26" name="Image 5" descr="Rejected">    </p:cNvPr>
          <p:cNvPicPr>
            <a:picLocks noChangeAspect="1"/>
          </p:cNvPicPr>
          <p:nvPr/>
        </p:nvPicPr>
        <p:blipFill>
          <a:blip r:embed="rId6"/>
          <a:stretch>
            <a:fillRect/>
          </a:stretch>
        </p:blipFill>
        <p:spPr>
          <a:xfrm>
            <a:off x="4846320" y="1371600"/>
            <a:ext cx="182880" cy="182880"/>
          </a:xfrm>
          <a:prstGeom prst="rect">
            <a:avLst/>
          </a:prstGeom>
        </p:spPr>
      </p:pic>
      <p:sp>
        <p:nvSpPr>
          <p:cNvPr id="27" name="Text 18"/>
          <p:cNvSpPr txBox="1"/>
          <p:nvPr/>
        </p:nvSpPr>
        <p:spPr>
          <a:xfrm>
            <a:off x="5257800" y="118872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stale URL: already removed, for example in another tab</a:t>
            </a:r>
            <a:endParaRPr lang="en-US" sz="1300" dirty="0"/>
          </a:p>
        </p:txBody>
      </p:sp>
      <p:sp>
        <p:nvSpPr>
          <p:cNvPr id="28" name="Rejected update"/>
          <p:cNvSpPr/>
          <p:nvPr/>
        </p:nvSpPr>
        <p:spPr>
          <a:xfrm>
            <a:off x="4663440" y="1828800"/>
            <a:ext cx="4023360" cy="548640"/>
          </a:xfrm>
          <a:prstGeom prst="roundRect">
            <a:avLst>
              <a:gd name="adj" fmla="val 13333"/>
            </a:avLst>
          </a:prstGeom>
          <a:solidFill>
            <a:schemeClr val="bg2"/>
          </a:solidFill>
          <a:ln/>
        </p:spPr>
      </p:sp>
      <p:sp>
        <p:nvSpPr>
          <p:cNvPr id="29" name="Rejected circle"/>
          <p:cNvSpPr/>
          <p:nvPr/>
        </p:nvSpPr>
        <p:spPr>
          <a:xfrm>
            <a:off x="4754880" y="1920240"/>
            <a:ext cx="365760" cy="365760"/>
          </a:xfrm>
          <a:prstGeom prst="ellipse">
            <a:avLst/>
          </a:prstGeom>
          <a:solidFill>
            <a:schemeClr val="accent3"/>
          </a:solidFill>
          <a:ln/>
        </p:spPr>
      </p:sp>
      <p:pic>
        <p:nvPicPr>
          <p:cNvPr id="30" name="Image 6" descr="Rejected">    </p:cNvPr>
          <p:cNvPicPr>
            <a:picLocks noChangeAspect="1"/>
          </p:cNvPicPr>
          <p:nvPr/>
        </p:nvPicPr>
        <p:blipFill>
          <a:blip r:embed="rId7"/>
          <a:stretch>
            <a:fillRect/>
          </a:stretch>
        </p:blipFill>
        <p:spPr>
          <a:xfrm>
            <a:off x="4846320" y="2011680"/>
            <a:ext cx="182880" cy="182880"/>
          </a:xfrm>
          <a:prstGeom prst="rect">
            <a:avLst/>
          </a:prstGeom>
        </p:spPr>
      </p:pic>
      <p:sp>
        <p:nvSpPr>
          <p:cNvPr id="31" name="Text 21"/>
          <p:cNvSpPr txBox="1"/>
          <p:nvPr/>
        </p:nvSpPr>
        <p:spPr>
          <a:xfrm>
            <a:off x="5257800" y="182880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same image kept twice, or an unsafe id</a:t>
            </a:r>
            <a:endParaRPr lang="en-US" sz="1300" dirty="0"/>
          </a:p>
        </p:txBody>
      </p:sp>
      <p:sp>
        <p:nvSpPr>
          <p:cNvPr id="32" name="Rejected update"/>
          <p:cNvSpPr/>
          <p:nvPr/>
        </p:nvSpPr>
        <p:spPr>
          <a:xfrm>
            <a:off x="4663440" y="2468880"/>
            <a:ext cx="4023360" cy="548640"/>
          </a:xfrm>
          <a:prstGeom prst="roundRect">
            <a:avLst>
              <a:gd name="adj" fmla="val 13333"/>
            </a:avLst>
          </a:prstGeom>
          <a:solidFill>
            <a:schemeClr val="bg2"/>
          </a:solidFill>
          <a:ln/>
        </p:spPr>
      </p:sp>
      <p:sp>
        <p:nvSpPr>
          <p:cNvPr id="33" name="Rejected circle"/>
          <p:cNvSpPr/>
          <p:nvPr/>
        </p:nvSpPr>
        <p:spPr>
          <a:xfrm>
            <a:off x="4754880" y="2560320"/>
            <a:ext cx="365760" cy="365760"/>
          </a:xfrm>
          <a:prstGeom prst="ellipse">
            <a:avLst/>
          </a:prstGeom>
          <a:solidFill>
            <a:schemeClr val="accent3"/>
          </a:solidFill>
          <a:ln/>
        </p:spPr>
      </p:sp>
      <p:pic>
        <p:nvPicPr>
          <p:cNvPr id="34" name="Image 7" descr="Rejected">    </p:cNvPr>
          <p:cNvPicPr>
            <a:picLocks noChangeAspect="1"/>
          </p:cNvPicPr>
          <p:nvPr/>
        </p:nvPicPr>
        <p:blipFill>
          <a:blip r:embed="rId8"/>
          <a:stretch>
            <a:fillRect/>
          </a:stretch>
        </p:blipFill>
        <p:spPr>
          <a:xfrm>
            <a:off x="4846320" y="2651760"/>
            <a:ext cx="182880" cy="182880"/>
          </a:xfrm>
          <a:prstGeom prst="rect">
            <a:avLst/>
          </a:prstGeom>
        </p:spPr>
      </p:pic>
      <p:sp>
        <p:nvSpPr>
          <p:cNvPr id="35" name="Text 24"/>
          <p:cNvSpPr txBox="1"/>
          <p:nvPr/>
        </p:nvSpPr>
        <p:spPr>
          <a:xfrm>
            <a:off x="5257800" y="246888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PDF id without a PDF file, or the reverse</a:t>
            </a:r>
            <a:endParaRPr lang="en-US" sz="1300" dirty="0"/>
          </a:p>
        </p:txBody>
      </p:sp>
      <p:sp>
        <p:nvSpPr>
          <p:cNvPr id="36" name="Rejected update"/>
          <p:cNvSpPr/>
          <p:nvPr/>
        </p:nvSpPr>
        <p:spPr>
          <a:xfrm>
            <a:off x="4663440" y="3108960"/>
            <a:ext cx="4023360" cy="548640"/>
          </a:xfrm>
          <a:prstGeom prst="roundRect">
            <a:avLst>
              <a:gd name="adj" fmla="val 13333"/>
            </a:avLst>
          </a:prstGeom>
          <a:solidFill>
            <a:schemeClr val="bg2"/>
          </a:solidFill>
          <a:ln/>
        </p:spPr>
      </p:sp>
      <p:sp>
        <p:nvSpPr>
          <p:cNvPr id="37" name="Rejected circle"/>
          <p:cNvSpPr/>
          <p:nvPr/>
        </p:nvSpPr>
        <p:spPr>
          <a:xfrm>
            <a:off x="4754880" y="3200400"/>
            <a:ext cx="365760" cy="365760"/>
          </a:xfrm>
          <a:prstGeom prst="ellipse">
            <a:avLst/>
          </a:prstGeom>
          <a:solidFill>
            <a:schemeClr val="accent3"/>
          </a:solidFill>
          <a:ln/>
        </p:spPr>
      </p:sp>
      <p:pic>
        <p:nvPicPr>
          <p:cNvPr id="38" name="Image 8" descr="Rejected">    </p:cNvPr>
          <p:cNvPicPr>
            <a:picLocks noChangeAspect="1"/>
          </p:cNvPicPr>
          <p:nvPr/>
        </p:nvPicPr>
        <p:blipFill>
          <a:blip r:embed="rId9"/>
          <a:stretch>
            <a:fillRect/>
          </a:stretch>
        </p:blipFill>
        <p:spPr>
          <a:xfrm>
            <a:off x="4846320" y="3291840"/>
            <a:ext cx="182880" cy="182880"/>
          </a:xfrm>
          <a:prstGeom prst="rect">
            <a:avLst/>
          </a:prstGeom>
        </p:spPr>
      </p:pic>
      <p:sp>
        <p:nvSpPr>
          <p:cNvPr id="39" name="Text 27"/>
          <p:cNvSpPr txBox="1"/>
          <p:nvPr/>
        </p:nvSpPr>
        <p:spPr>
          <a:xfrm>
            <a:off x="5257800" y="3108960"/>
            <a:ext cx="333756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Unknown product id (404)</a:t>
            </a:r>
            <a:endParaRPr lang="en-US" sz="1300" dirty="0"/>
          </a:p>
        </p:txBody>
      </p:sp>
      <p:sp>
        <p:nvSpPr>
          <p:cNvPr id="40" name="Guarantee"/>
          <p:cNvSpPr/>
          <p:nvPr/>
        </p:nvSpPr>
        <p:spPr>
          <a:xfrm>
            <a:off x="4663440" y="3749040"/>
            <a:ext cx="4023360" cy="868680"/>
          </a:xfrm>
          <a:prstGeom prst="roundRect">
            <a:avLst>
              <a:gd name="adj" fmla="val 8421"/>
            </a:avLst>
          </a:prstGeom>
          <a:solidFill>
            <a:schemeClr val="accent4">
              <a:alpha val="15000"/>
            </a:schemeClr>
          </a:solidFill>
          <a:ln/>
        </p:spPr>
      </p:sp>
      <p:sp>
        <p:nvSpPr>
          <p:cNvPr id="41" name="Text 29"/>
          <p:cNvSpPr txBox="1"/>
          <p:nvPr/>
        </p:nvSpPr>
        <p:spPr>
          <a:xfrm>
            <a:off x="4800600" y="3794760"/>
            <a:ext cx="3794760" cy="777240"/>
          </a:xfrm>
          <a:prstGeom prst="rect">
            <a:avLst/>
          </a:prstGeom>
          <a:noFill/>
          <a:ln/>
        </p:spPr>
        <p:txBody>
          <a:bodyPr wrap="square" lIns="0" tIns="0" rIns="0" bIns="0" rtlCol="0" anchor="ctr"/>
          <a:lstStyle/>
          <a:p>
            <a:pPr indent="0" marL="0">
              <a:buNone/>
            </a:pPr>
            <a:r>
              <a:rPr lang="en-US" sz="1300" b="1" dirty="0">
                <a:solidFill>
                  <a:schemeClr val="accent4"/>
                </a:solidFill>
                <a:latin typeface="Calibri" pitchFamily="34" charset="0"/>
                <a:ea typeface="Calibri" pitchFamily="34" charset="-122"/>
                <a:cs typeface="Calibri" pitchFamily="34" charset="-120"/>
              </a:rPr>
              <a:t>Guarantee</a:t>
            </a:r>
            <a:endParaRPr lang="en-US" sz="1300" dirty="0"/>
          </a:p>
          <a:p>
            <a:pPr indent="0" marL="0">
              <a:buNone/>
            </a:pPr>
            <a:r>
              <a:rPr lang="en-US" sz="1300" dirty="0">
                <a:solidFill>
                  <a:schemeClr val="tx1"/>
                </a:solidFill>
                <a:latin typeface="Calibri" pitchFamily="34" charset="0"/>
                <a:ea typeface="Calibri" pitchFamily="34" charset="-122"/>
                <a:cs typeface="Calibri" pitchFamily="34" charset="-120"/>
              </a:rPr>
              <a:t>After a rejected update the database and the uploads folder are exactly as before.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Why the order is safe</a:t>
            </a:r>
            <a:endParaRPr lang="en-US" sz="3200" dirty="0"/>
          </a:p>
        </p:txBody>
      </p:sp>
      <p:sp>
        <p:nvSpPr>
          <p:cNvPr id="4" name="Validate"/>
          <p:cNvSpPr/>
          <p:nvPr/>
        </p:nvSpPr>
        <p:spPr>
          <a:xfrm>
            <a:off x="457200" y="1188720"/>
            <a:ext cx="1920240" cy="2651760"/>
          </a:xfrm>
          <a:prstGeom prst="roundRect">
            <a:avLst>
              <a:gd name="adj" fmla="val 3810"/>
            </a:avLst>
          </a:prstGeom>
          <a:solidFill>
            <a:schemeClr val="bg2"/>
          </a:solidFill>
          <a:ln/>
          <a:effectLst>
            <a:outerShdw sx="100000" sy="100000" kx="0" ky="0" algn="bl" rotWithShape="0" blurRad="76200" dist="25400" dir="5400000">
              <a:srgbClr val="000000">
                <a:alpha val="12000"/>
              </a:srgbClr>
            </a:outerShdw>
          </a:effectLst>
        </p:spPr>
      </p:sp>
      <p:sp>
        <p:nvSpPr>
          <p:cNvPr id="5" name="Validate circle"/>
          <p:cNvSpPr/>
          <p:nvPr/>
        </p:nvSpPr>
        <p:spPr>
          <a:xfrm>
            <a:off x="1143000" y="1325880"/>
            <a:ext cx="548640" cy="548640"/>
          </a:xfrm>
          <a:prstGeom prst="ellipse">
            <a:avLst/>
          </a:prstGeom>
          <a:solidFill>
            <a:schemeClr val="accent1"/>
          </a:solidFill>
          <a:ln/>
        </p:spPr>
      </p:sp>
      <p:pic>
        <p:nvPicPr>
          <p:cNvPr id="6" name="Image 0" descr="Validate">    </p:cNvPr>
          <p:cNvPicPr>
            <a:picLocks noChangeAspect="1"/>
          </p:cNvPicPr>
          <p:nvPr/>
        </p:nvPicPr>
        <p:blipFill>
          <a:blip r:embed="rId1"/>
          <a:stretch>
            <a:fillRect/>
          </a:stretch>
        </p:blipFill>
        <p:spPr>
          <a:xfrm>
            <a:off x="1280160" y="1463040"/>
            <a:ext cx="274320" cy="274320"/>
          </a:xfrm>
          <a:prstGeom prst="rect">
            <a:avLst/>
          </a:prstGeom>
        </p:spPr>
      </p:pic>
      <p:sp>
        <p:nvSpPr>
          <p:cNvPr id="7" name="Text 3"/>
          <p:cNvSpPr txBox="1"/>
          <p:nvPr/>
        </p:nvSpPr>
        <p:spPr>
          <a:xfrm>
            <a:off x="548640" y="1965960"/>
            <a:ext cx="17373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Validate</a:t>
            </a:r>
            <a:endParaRPr lang="en-US" sz="1400" dirty="0"/>
          </a:p>
        </p:txBody>
      </p:sp>
      <p:sp>
        <p:nvSpPr>
          <p:cNvPr id="8" name="Text 4"/>
          <p:cNvSpPr txBox="1"/>
          <p:nvPr/>
        </p:nvSpPr>
        <p:spPr>
          <a:xfrm>
            <a:off x="594360" y="2331720"/>
            <a:ext cx="16459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If it fails here</a:t>
            </a:r>
            <a:endParaRPr lang="en-US" sz="1200" dirty="0"/>
          </a:p>
        </p:txBody>
      </p:sp>
      <p:sp>
        <p:nvSpPr>
          <p:cNvPr id="9" name="Text 5"/>
          <p:cNvSpPr txBox="1"/>
          <p:nvPr/>
        </p:nvSpPr>
        <p:spPr>
          <a:xfrm>
            <a:off x="594360" y="2560320"/>
            <a:ext cx="164592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Fails with 400.</a:t>
            </a:r>
            <a:endParaRPr lang="en-US" sz="1200" dirty="0"/>
          </a:p>
        </p:txBody>
      </p:sp>
      <p:sp>
        <p:nvSpPr>
          <p:cNvPr id="10" name="Text 6"/>
          <p:cNvSpPr txBox="1"/>
          <p:nvPr/>
        </p:nvSpPr>
        <p:spPr>
          <a:xfrm>
            <a:off x="594360" y="3017520"/>
            <a:ext cx="1645920" cy="7772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Nothing was changed.</a:t>
            </a:r>
            <a:endParaRPr lang="en-US" sz="1200" dirty="0"/>
          </a:p>
        </p:txBody>
      </p:sp>
      <p:sp>
        <p:nvSpPr>
          <p:cNvPr id="11" name="Arrow"/>
          <p:cNvSpPr/>
          <p:nvPr/>
        </p:nvSpPr>
        <p:spPr>
          <a:xfrm>
            <a:off x="2395728" y="2514600"/>
            <a:ext cx="146304" cy="0"/>
          </a:xfrm>
          <a:prstGeom prst="line">
            <a:avLst/>
          </a:prstGeom>
          <a:noFill/>
          <a:ln w="25400">
            <a:solidFill>
              <a:schemeClr val="accent5"/>
            </a:solidFill>
            <a:prstDash val="solid"/>
            <a:tailEnd type="triangle"/>
          </a:ln>
        </p:spPr>
      </p:sp>
      <p:sp>
        <p:nvSpPr>
          <p:cNvPr id="12" name="Write new files"/>
          <p:cNvSpPr/>
          <p:nvPr/>
        </p:nvSpPr>
        <p:spPr>
          <a:xfrm>
            <a:off x="2560320" y="1188720"/>
            <a:ext cx="1920240" cy="2651760"/>
          </a:xfrm>
          <a:prstGeom prst="roundRect">
            <a:avLst>
              <a:gd name="adj" fmla="val 3810"/>
            </a:avLst>
          </a:prstGeom>
          <a:solidFill>
            <a:schemeClr val="bg2"/>
          </a:solidFill>
          <a:ln/>
          <a:effectLst>
            <a:outerShdw sx="100000" sy="100000" kx="0" ky="0" algn="bl" rotWithShape="0" blurRad="76200" dist="25400" dir="5400000">
              <a:srgbClr val="000000">
                <a:alpha val="12000"/>
              </a:srgbClr>
            </a:outerShdw>
          </a:effectLst>
        </p:spPr>
      </p:sp>
      <p:sp>
        <p:nvSpPr>
          <p:cNvPr id="13" name="Write new files circle"/>
          <p:cNvSpPr/>
          <p:nvPr/>
        </p:nvSpPr>
        <p:spPr>
          <a:xfrm>
            <a:off x="3246120" y="1325880"/>
            <a:ext cx="548640" cy="548640"/>
          </a:xfrm>
          <a:prstGeom prst="ellipse">
            <a:avLst/>
          </a:prstGeom>
          <a:solidFill>
            <a:schemeClr val="accent2"/>
          </a:solidFill>
          <a:ln/>
        </p:spPr>
      </p:sp>
      <p:pic>
        <p:nvPicPr>
          <p:cNvPr id="14" name="Image 1" descr="Write new files">    </p:cNvPr>
          <p:cNvPicPr>
            <a:picLocks noChangeAspect="1"/>
          </p:cNvPicPr>
          <p:nvPr/>
        </p:nvPicPr>
        <p:blipFill>
          <a:blip r:embed="rId2"/>
          <a:stretch>
            <a:fillRect/>
          </a:stretch>
        </p:blipFill>
        <p:spPr>
          <a:xfrm>
            <a:off x="3383280" y="1463040"/>
            <a:ext cx="274320" cy="274320"/>
          </a:xfrm>
          <a:prstGeom prst="rect">
            <a:avLst/>
          </a:prstGeom>
        </p:spPr>
      </p:pic>
      <p:sp>
        <p:nvSpPr>
          <p:cNvPr id="15" name="Text 10"/>
          <p:cNvSpPr txBox="1"/>
          <p:nvPr/>
        </p:nvSpPr>
        <p:spPr>
          <a:xfrm>
            <a:off x="2651760" y="1965960"/>
            <a:ext cx="17373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Write new files</a:t>
            </a:r>
            <a:endParaRPr lang="en-US" sz="1400" dirty="0"/>
          </a:p>
        </p:txBody>
      </p:sp>
      <p:sp>
        <p:nvSpPr>
          <p:cNvPr id="16" name="Text 11"/>
          <p:cNvSpPr txBox="1"/>
          <p:nvPr/>
        </p:nvSpPr>
        <p:spPr>
          <a:xfrm>
            <a:off x="2697480" y="2331720"/>
            <a:ext cx="16459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If it fails here</a:t>
            </a:r>
            <a:endParaRPr lang="en-US" sz="1200" dirty="0"/>
          </a:p>
        </p:txBody>
      </p:sp>
      <p:sp>
        <p:nvSpPr>
          <p:cNvPr id="17" name="Text 12"/>
          <p:cNvSpPr txBox="1"/>
          <p:nvPr/>
        </p:nvSpPr>
        <p:spPr>
          <a:xfrm>
            <a:off x="2697480" y="2560320"/>
            <a:ext cx="164592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write error stops here.</a:t>
            </a:r>
            <a:endParaRPr lang="en-US" sz="1200" dirty="0"/>
          </a:p>
        </p:txBody>
      </p:sp>
      <p:sp>
        <p:nvSpPr>
          <p:cNvPr id="18" name="Text 13"/>
          <p:cNvSpPr txBox="1"/>
          <p:nvPr/>
        </p:nvSpPr>
        <p:spPr>
          <a:xfrm>
            <a:off x="2697480" y="3017520"/>
            <a:ext cx="1645920" cy="7772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Already-written new files are removed. Old data untouched.</a:t>
            </a:r>
            <a:endParaRPr lang="en-US" sz="1200" dirty="0"/>
          </a:p>
        </p:txBody>
      </p:sp>
      <p:sp>
        <p:nvSpPr>
          <p:cNvPr id="19" name="Arrow"/>
          <p:cNvSpPr/>
          <p:nvPr/>
        </p:nvSpPr>
        <p:spPr>
          <a:xfrm>
            <a:off x="4498848" y="2514600"/>
            <a:ext cx="146304" cy="0"/>
          </a:xfrm>
          <a:prstGeom prst="line">
            <a:avLst/>
          </a:prstGeom>
          <a:noFill/>
          <a:ln w="25400">
            <a:solidFill>
              <a:schemeClr val="accent5"/>
            </a:solidFill>
            <a:prstDash val="solid"/>
            <a:tailEnd type="triangle"/>
          </a:ln>
        </p:spPr>
      </p:sp>
      <p:sp>
        <p:nvSpPr>
          <p:cNvPr id="20" name="Save database"/>
          <p:cNvSpPr/>
          <p:nvPr/>
        </p:nvSpPr>
        <p:spPr>
          <a:xfrm>
            <a:off x="4663440" y="1188720"/>
            <a:ext cx="1920240" cy="2651760"/>
          </a:xfrm>
          <a:prstGeom prst="roundRect">
            <a:avLst>
              <a:gd name="adj" fmla="val 3810"/>
            </a:avLst>
          </a:prstGeom>
          <a:solidFill>
            <a:schemeClr val="bg2"/>
          </a:solidFill>
          <a:ln/>
          <a:effectLst>
            <a:outerShdw sx="100000" sy="100000" kx="0" ky="0" algn="bl" rotWithShape="0" blurRad="76200" dist="25400" dir="5400000">
              <a:srgbClr val="000000">
                <a:alpha val="12000"/>
              </a:srgbClr>
            </a:outerShdw>
          </a:effectLst>
        </p:spPr>
      </p:sp>
      <p:sp>
        <p:nvSpPr>
          <p:cNvPr id="21" name="Save database circle"/>
          <p:cNvSpPr/>
          <p:nvPr/>
        </p:nvSpPr>
        <p:spPr>
          <a:xfrm>
            <a:off x="5349240" y="1325880"/>
            <a:ext cx="548640" cy="548640"/>
          </a:xfrm>
          <a:prstGeom prst="ellipse">
            <a:avLst/>
          </a:prstGeom>
          <a:solidFill>
            <a:schemeClr val="accent1"/>
          </a:solidFill>
          <a:ln/>
        </p:spPr>
      </p:sp>
      <p:pic>
        <p:nvPicPr>
          <p:cNvPr id="22" name="Image 2" descr="Save database">    </p:cNvPr>
          <p:cNvPicPr>
            <a:picLocks noChangeAspect="1"/>
          </p:cNvPicPr>
          <p:nvPr/>
        </p:nvPicPr>
        <p:blipFill>
          <a:blip r:embed="rId3"/>
          <a:stretch>
            <a:fillRect/>
          </a:stretch>
        </p:blipFill>
        <p:spPr>
          <a:xfrm>
            <a:off x="5486400" y="1463040"/>
            <a:ext cx="274320" cy="274320"/>
          </a:xfrm>
          <a:prstGeom prst="rect">
            <a:avLst/>
          </a:prstGeom>
        </p:spPr>
      </p:pic>
      <p:sp>
        <p:nvSpPr>
          <p:cNvPr id="23" name="Text 17"/>
          <p:cNvSpPr txBox="1"/>
          <p:nvPr/>
        </p:nvSpPr>
        <p:spPr>
          <a:xfrm>
            <a:off x="4754880" y="1965960"/>
            <a:ext cx="17373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Save database</a:t>
            </a:r>
            <a:endParaRPr lang="en-US" sz="1400" dirty="0"/>
          </a:p>
        </p:txBody>
      </p:sp>
      <p:sp>
        <p:nvSpPr>
          <p:cNvPr id="24" name="Text 18"/>
          <p:cNvSpPr txBox="1"/>
          <p:nvPr/>
        </p:nvSpPr>
        <p:spPr>
          <a:xfrm>
            <a:off x="4800600" y="2331720"/>
            <a:ext cx="16459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If it fails here</a:t>
            </a:r>
            <a:endParaRPr lang="en-US" sz="1200" dirty="0"/>
          </a:p>
        </p:txBody>
      </p:sp>
      <p:sp>
        <p:nvSpPr>
          <p:cNvPr id="25" name="Text 19"/>
          <p:cNvSpPr txBox="1"/>
          <p:nvPr/>
        </p:nvSpPr>
        <p:spPr>
          <a:xfrm>
            <a:off x="4800600" y="2560320"/>
            <a:ext cx="164592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A database error stops here.</a:t>
            </a:r>
            <a:endParaRPr lang="en-US" sz="1200" dirty="0"/>
          </a:p>
        </p:txBody>
      </p:sp>
      <p:sp>
        <p:nvSpPr>
          <p:cNvPr id="26" name="Text 20"/>
          <p:cNvSpPr txBox="1"/>
          <p:nvPr/>
        </p:nvSpPr>
        <p:spPr>
          <a:xfrm>
            <a:off x="4800600" y="3017520"/>
            <a:ext cx="1645920" cy="7772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New files are removed again. Database and old files untouched.</a:t>
            </a:r>
            <a:endParaRPr lang="en-US" sz="1200" dirty="0"/>
          </a:p>
        </p:txBody>
      </p:sp>
      <p:sp>
        <p:nvSpPr>
          <p:cNvPr id="27" name="Arrow"/>
          <p:cNvSpPr/>
          <p:nvPr/>
        </p:nvSpPr>
        <p:spPr>
          <a:xfrm>
            <a:off x="6601968" y="2514600"/>
            <a:ext cx="146304" cy="0"/>
          </a:xfrm>
          <a:prstGeom prst="line">
            <a:avLst/>
          </a:prstGeom>
          <a:noFill/>
          <a:ln w="25400">
            <a:solidFill>
              <a:schemeClr val="accent5"/>
            </a:solidFill>
            <a:prstDash val="solid"/>
            <a:tailEnd type="triangle"/>
          </a:ln>
        </p:spPr>
      </p:sp>
      <p:sp>
        <p:nvSpPr>
          <p:cNvPr id="28" name="Delete old files"/>
          <p:cNvSpPr/>
          <p:nvPr/>
        </p:nvSpPr>
        <p:spPr>
          <a:xfrm>
            <a:off x="6766560" y="1188720"/>
            <a:ext cx="1920240" cy="2651760"/>
          </a:xfrm>
          <a:prstGeom prst="roundRect">
            <a:avLst>
              <a:gd name="adj" fmla="val 3810"/>
            </a:avLst>
          </a:prstGeom>
          <a:solidFill>
            <a:schemeClr val="bg2"/>
          </a:solidFill>
          <a:ln/>
          <a:effectLst>
            <a:outerShdw sx="100000" sy="100000" kx="0" ky="0" algn="bl" rotWithShape="0" blurRad="76200" dist="25400" dir="5400000">
              <a:srgbClr val="000000">
                <a:alpha val="12000"/>
              </a:srgbClr>
            </a:outerShdw>
          </a:effectLst>
        </p:spPr>
      </p:sp>
      <p:sp>
        <p:nvSpPr>
          <p:cNvPr id="29" name="Delete old files circle"/>
          <p:cNvSpPr/>
          <p:nvPr/>
        </p:nvSpPr>
        <p:spPr>
          <a:xfrm>
            <a:off x="7452360" y="1325880"/>
            <a:ext cx="548640" cy="548640"/>
          </a:xfrm>
          <a:prstGeom prst="ellipse">
            <a:avLst/>
          </a:prstGeom>
          <a:solidFill>
            <a:schemeClr val="accent3"/>
          </a:solidFill>
          <a:ln/>
        </p:spPr>
      </p:sp>
      <p:pic>
        <p:nvPicPr>
          <p:cNvPr id="30" name="Image 3" descr="Delete old files">    </p:cNvPr>
          <p:cNvPicPr>
            <a:picLocks noChangeAspect="1"/>
          </p:cNvPicPr>
          <p:nvPr/>
        </p:nvPicPr>
        <p:blipFill>
          <a:blip r:embed="rId4"/>
          <a:stretch>
            <a:fillRect/>
          </a:stretch>
        </p:blipFill>
        <p:spPr>
          <a:xfrm>
            <a:off x="7589520" y="1463040"/>
            <a:ext cx="274320" cy="274320"/>
          </a:xfrm>
          <a:prstGeom prst="rect">
            <a:avLst/>
          </a:prstGeom>
        </p:spPr>
      </p:pic>
      <p:sp>
        <p:nvSpPr>
          <p:cNvPr id="31" name="Text 24"/>
          <p:cNvSpPr txBox="1"/>
          <p:nvPr/>
        </p:nvSpPr>
        <p:spPr>
          <a:xfrm>
            <a:off x="6858000" y="1965960"/>
            <a:ext cx="1737360" cy="27432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Delete old files</a:t>
            </a:r>
            <a:endParaRPr lang="en-US" sz="1400" dirty="0"/>
          </a:p>
        </p:txBody>
      </p:sp>
      <p:sp>
        <p:nvSpPr>
          <p:cNvPr id="32" name="Text 25"/>
          <p:cNvSpPr txBox="1"/>
          <p:nvPr/>
        </p:nvSpPr>
        <p:spPr>
          <a:xfrm>
            <a:off x="6903720" y="2331720"/>
            <a:ext cx="1645920" cy="22860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If it fails here</a:t>
            </a:r>
            <a:endParaRPr lang="en-US" sz="1200" dirty="0"/>
          </a:p>
        </p:txBody>
      </p:sp>
      <p:sp>
        <p:nvSpPr>
          <p:cNvPr id="33" name="Text 26"/>
          <p:cNvSpPr txBox="1"/>
          <p:nvPr/>
        </p:nvSpPr>
        <p:spPr>
          <a:xfrm>
            <a:off x="6903720" y="2560320"/>
            <a:ext cx="1645920" cy="4114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product is already saved.</a:t>
            </a:r>
            <a:endParaRPr lang="en-US" sz="1200" dirty="0"/>
          </a:p>
        </p:txBody>
      </p:sp>
      <p:sp>
        <p:nvSpPr>
          <p:cNvPr id="34" name="Text 27"/>
          <p:cNvSpPr txBox="1"/>
          <p:nvPr/>
        </p:nvSpPr>
        <p:spPr>
          <a:xfrm>
            <a:off x="6903720" y="3017520"/>
            <a:ext cx="1645920" cy="77724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Worst case: a leftover file. Never a missing one.</a:t>
            </a:r>
            <a:endParaRPr lang="en-US" sz="1200" dirty="0"/>
          </a:p>
        </p:txBody>
      </p:sp>
      <p:sp>
        <p:nvSpPr>
          <p:cNvPr id="35" name="Result"/>
          <p:cNvSpPr/>
          <p:nvPr/>
        </p:nvSpPr>
        <p:spPr>
          <a:xfrm>
            <a:off x="457200" y="4023360"/>
            <a:ext cx="8229600" cy="594360"/>
          </a:xfrm>
          <a:prstGeom prst="roundRect">
            <a:avLst>
              <a:gd name="adj" fmla="val 12308"/>
            </a:avLst>
          </a:prstGeom>
          <a:solidFill>
            <a:schemeClr val="accent1"/>
          </a:solidFill>
          <a:ln/>
          <a:effectLst>
            <a:outerShdw sx="100000" sy="100000" kx="0" ky="0" algn="bl" rotWithShape="0" blurRad="76200" dist="25400" dir="5400000">
              <a:srgbClr val="000000">
                <a:alpha val="12000"/>
              </a:srgbClr>
            </a:outerShdw>
          </a:effectLst>
        </p:spPr>
      </p:sp>
      <p:sp>
        <p:nvSpPr>
          <p:cNvPr id="36" name="Text 29"/>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Result: </a:t>
            </a:r>
            <a:pPr indent="0" marL="0">
              <a:buNone/>
            </a:pPr>
            <a:r>
              <a:rPr lang="en-US" sz="1300" dirty="0">
                <a:solidFill>
                  <a:schemeClr val="bg1"/>
                </a:solidFill>
                <a:latin typeface="Calibri" pitchFamily="34" charset="0"/>
                <a:ea typeface="Calibri" pitchFamily="34" charset="-122"/>
                <a:cs typeface="Calibri" pitchFamily="34" charset="-120"/>
              </a:rPr>
              <a:t>the database never points at a missing file. 32 of 32 test cases pass on both backends, including after a server restart.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Add and update side by side</a:t>
            </a:r>
            <a:endParaRPr lang="en-US" sz="3200" dirty="0"/>
          </a:p>
        </p:txBody>
      </p:sp>
      <p:graphicFrame>
        <p:nvGraphicFramePr>
          <p:cNvPr id="20" name="Add vs update"/>
          <p:cNvGraphicFramePr>
            <a:graphicFrameLocks noGrp="1"/>
          </p:cNvGraphicFramePr>
          <p:nvPr>
            <p:extLst>
              <p:ext uri="{D42A27DB-BD31-4B8C-83A1-F6EECF244321}">
                <p14:modId xmlns:p14="http://schemas.microsoft.com/office/powerpoint/2010/main" val="1579011935"/>
              </p:ext>
            </p:extLst>
          </p:nvPr>
        </p:nvGraphicFramePr>
        <p:xfrm>
          <a:off x="457200" y="1188720"/>
          <a:ext cx="6858000" cy="914400"/>
        </p:xfrm>
        <a:graphic>
          <a:graphicData uri="http://schemas.openxmlformats.org/drawingml/2006/table">
            <a:tbl>
              <a:tblPr/>
              <a:tblGrid>
                <a:gridCol w="2194560"/>
                <a:gridCol w="2834640"/>
                <a:gridCol w="3200400"/>
              </a:tblGrid>
              <a:tr h="365760">
                <a:tc>
                  <a:txBody>
                    <a:bodyPr/>
                    <a:lstStyle/>
                    <a:p>
                      <a:pPr indent="0" marL="0">
                        <a:buNone/>
                      </a:pP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Add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Update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accent1"/>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Endpoint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POST /demo/products</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PUT /demo/products/{id}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Needs an existing product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 the id is created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Yes. Unknown id gives 404</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image in each entry</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id</a:t>
                      </a:r>
                      <a:pPr indent="0" marL="0">
                        <a:buNone/>
                      </a:pPr>
                      <a:r>
                        <a:rPr lang="en-US" sz="1300" dirty="0">
                          <a:solidFill>
                            <a:schemeClr val="tx1"/>
                          </a:solidFill>
                          <a:latin typeface="Calibri" pitchFamily="34" charset="0"/>
                          <a:ea typeface="Calibri" pitchFamily="34" charset="-122"/>
                          <a:cs typeface="Calibri" pitchFamily="34" charset="-120"/>
                        </a:rPr>
                        <a:t> with a file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6"/>
                          </a:solidFill>
                          <a:latin typeface="Calibri" pitchFamily="34" charset="0"/>
                          <a:ea typeface="Calibri" pitchFamily="34" charset="-122"/>
                          <a:cs typeface="Calibri" pitchFamily="34" charset="-120"/>
                        </a:rPr>
                        <a:t>new id</a:t>
                      </a:r>
                      <a:pPr indent="0" marL="0">
                        <a:buNone/>
                      </a:pPr>
                      <a:r>
                        <a:rPr lang="en-US" sz="1300" dirty="0">
                          <a:solidFill>
                            <a:schemeClr val="tx1"/>
                          </a:solidFill>
                          <a:latin typeface="Calibri" pitchFamily="34" charset="0"/>
                          <a:ea typeface="Calibri" pitchFamily="34" charset="-122"/>
                          <a:cs typeface="Calibri" pitchFamily="34" charset="-120"/>
                        </a:rPr>
                        <a:t> with a file, or </a:t>
                      </a:r>
                      <a:pPr indent="0" marL="0">
                        <a:buNone/>
                      </a:pPr>
                      <a:r>
                        <a:rPr lang="en-US" sz="1300" b="1" dirty="0">
                          <a:solidFill>
                            <a:schemeClr val="accent4"/>
                          </a:solidFill>
                          <a:latin typeface="Calibri" pitchFamily="34" charset="0"/>
                          <a:ea typeface="Calibri" pitchFamily="34" charset="-122"/>
                          <a:cs typeface="Calibri" pitchFamily="34" charset="-120"/>
                        </a:rPr>
                        <a:t>current URL</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Files deleted</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Never</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Removed images, replaced or removed PDF</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Database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Inserts product + image rows</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Replaces product + image rows</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Success response</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201 { success, id, data }</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200 { success, id, data }</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2"/>
                    </a:solidFill>
                  </a:tcPr>
                </a:tc>
              </a:tr>
              <a:tr h="420624">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Image rules</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 to 10 images, up to 5 MB each</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Same, counted over the whole product</a:t>
                      </a:r>
                      <a:endParaRPr lang="en-US" sz="1300" dirty="0">
                        <a:latin typeface="Calibri" charset="0"/>
                        <a:ea typeface="Calibri" charset="0"/>
                        <a:cs typeface="Calibri" charset="0"/>
                      </a:endParaRPr>
                    </a:p>
                  </a:txBody>
                  <a:tcPr marL="73152" marR="73152" marT="36576" marB="36576" anchor="ctr">
                    <a:lnL w="9525" cap="flat" cmpd="sng" algn="ctr">
                      <a:solidFill>
                        <a:srgbClr val="C9DAD6"/>
                      </a:solidFill>
                      <a:prstDash val="solid"/>
                      <a:round/>
                      <a:headEnd type="none" w="med" len="med"/>
                      <a:tailEnd type="none" w="med" len="med"/>
                    </a:lnL>
                    <a:lnR w="9525" cap="flat" cmpd="sng" algn="ctr">
                      <a:solidFill>
                        <a:srgbClr val="C9DAD6"/>
                      </a:solidFill>
                      <a:prstDash val="solid"/>
                      <a:round/>
                      <a:headEnd type="none" w="med" len="med"/>
                      <a:tailEnd type="none" w="med" len="med"/>
                    </a:lnR>
                    <a:lnT w="9525" cap="flat" cmpd="sng" algn="ctr">
                      <a:solidFill>
                        <a:srgbClr val="C9DAD6"/>
                      </a:solidFill>
                      <a:prstDash val="solid"/>
                      <a:round/>
                      <a:headEnd type="none" w="med" len="med"/>
                      <a:tailEnd type="none" w="med" len="med"/>
                    </a:lnT>
                    <a:lnB w="9525" cap="flat" cmpd="sng" algn="ctr">
                      <a:solidFill>
                        <a:srgbClr val="C9DA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Limits and known gaps</a:t>
            </a:r>
            <a:endParaRPr lang="en-US" sz="3200" dirty="0"/>
          </a:p>
        </p:txBody>
      </p:sp>
      <p:sp>
        <p:nvSpPr>
          <p:cNvPr id="4" name="Limits"/>
          <p:cNvSpPr/>
          <p:nvPr/>
        </p:nvSpPr>
        <p:spPr>
          <a:xfrm>
            <a:off x="457200" y="1188720"/>
            <a:ext cx="4023360" cy="2880360"/>
          </a:xfrm>
          <a:prstGeom prst="roundRect">
            <a:avLst>
              <a:gd name="adj" fmla="val 2540"/>
            </a:avLst>
          </a:prstGeom>
          <a:solidFill>
            <a:schemeClr val="bg2"/>
          </a:solidFill>
          <a:ln/>
          <a:effectLst>
            <a:outerShdw sx="100000" sy="100000" kx="0" ky="0" algn="bl" rotWithShape="0" blurRad="76200" dist="25400" dir="5400000">
              <a:srgbClr val="000000">
                <a:alpha val="12000"/>
              </a:srgbClr>
            </a:outerShdw>
          </a:effectLst>
        </p:spPr>
      </p:sp>
      <p:sp>
        <p:nvSpPr>
          <p:cNvPr id="5" name="Chip Limits"/>
          <p:cNvSpPr txBox="1"/>
          <p:nvPr/>
        </p:nvSpPr>
        <p:spPr>
          <a:xfrm>
            <a:off x="594360" y="1325880"/>
            <a:ext cx="1005840" cy="256032"/>
          </a:xfrm>
          <a:prstGeom prst="roundRect">
            <a:avLst>
              <a:gd name="adj" fmla="val 42857"/>
            </a:avLst>
          </a:prstGeom>
          <a:solidFill>
            <a:schemeClr val="accent1"/>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Limits</a:t>
            </a:r>
            <a:endParaRPr lang="en-US" sz="1200" dirty="0"/>
          </a:p>
        </p:txBody>
      </p:sp>
      <p:sp>
        <p:nvSpPr>
          <p:cNvPr id="6" name="Text 3"/>
          <p:cNvSpPr txBox="1"/>
          <p:nvPr/>
        </p:nvSpPr>
        <p:spPr>
          <a:xfrm>
            <a:off x="594360" y="1737360"/>
            <a:ext cx="374904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Up to 10 images per product</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Up to 5 MB per file</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Images: image/*   PDF: application/pdf</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Ids use A-Z a-z 0-9 - _ (1 to 64 characters)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One optional PDF per product</a:t>
            </a:r>
            <a:endParaRPr lang="en-US" sz="1400" dirty="0"/>
          </a:p>
        </p:txBody>
      </p:sp>
      <p:sp>
        <p:nvSpPr>
          <p:cNvPr id="7" name="Known gaps"/>
          <p:cNvSpPr/>
          <p:nvPr/>
        </p:nvSpPr>
        <p:spPr>
          <a:xfrm>
            <a:off x="4663440" y="1188720"/>
            <a:ext cx="4023360" cy="2880360"/>
          </a:xfrm>
          <a:prstGeom prst="roundRect">
            <a:avLst>
              <a:gd name="adj" fmla="val 2540"/>
            </a:avLst>
          </a:prstGeom>
          <a:solidFill>
            <a:schemeClr val="bg2"/>
          </a:solidFill>
          <a:ln/>
          <a:effectLst>
            <a:outerShdw sx="100000" sy="100000" kx="0" ky="0" algn="bl" rotWithShape="0" blurRad="76200" dist="25400" dir="5400000">
              <a:srgbClr val="000000">
                <a:alpha val="12000"/>
              </a:srgbClr>
            </a:outerShdw>
          </a:effectLst>
        </p:spPr>
      </p:sp>
      <p:sp>
        <p:nvSpPr>
          <p:cNvPr id="8" name="Chip Known gaps"/>
          <p:cNvSpPr txBox="1"/>
          <p:nvPr/>
        </p:nvSpPr>
        <p:spPr>
          <a:xfrm>
            <a:off x="4800600" y="1325880"/>
            <a:ext cx="1280160" cy="256032"/>
          </a:xfrm>
          <a:prstGeom prst="roundRect">
            <a:avLst>
              <a:gd name="adj" fmla="val 42857"/>
            </a:avLst>
          </a:prstGeom>
          <a:solidFill>
            <a:schemeClr val="accent3"/>
          </a:solid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Known gaps</a:t>
            </a:r>
            <a:endParaRPr lang="en-US" sz="1200" dirty="0"/>
          </a:p>
        </p:txBody>
      </p:sp>
      <p:sp>
        <p:nvSpPr>
          <p:cNvPr id="9" name="Text 6"/>
          <p:cNvSpPr txBox="1"/>
          <p:nvPr/>
        </p:nvSpPr>
        <p:spPr>
          <a:xfrm>
            <a:off x="4800600" y="1737360"/>
            <a:ext cx="374904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No locking: two updates at once, the last one wins</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A crash between save and delete can leave an unused file</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Files live on local disk; use S3 or similar in production</a:t>
            </a:r>
            <a:endParaRPr lang="en-US" sz="1400" dirty="0"/>
          </a:p>
          <a:p>
            <a:pPr marL="342900" indent="-342900">
              <a:spcAft>
                <a:spcPts val="1000"/>
              </a:spcAft>
              <a:buSzPct val="100000"/>
              <a:buChar char="•"/>
            </a:pPr>
            <a:r>
              <a:rPr lang="en-US" sz="1400" dirty="0">
                <a:solidFill>
                  <a:schemeClr val="tx1"/>
                </a:solidFill>
                <a:latin typeface="Calibri" pitchFamily="34" charset="0"/>
                <a:ea typeface="Calibri" pitchFamily="34" charset="-122"/>
                <a:cs typeface="Calibri" pitchFamily="34" charset="-120"/>
              </a:rPr>
              <a:t>Express keeps products in memory, so a restart loses them. Java persists them in H2</a:t>
            </a:r>
            <a:endParaRPr lang="en-US" sz="1400" dirty="0"/>
          </a:p>
        </p:txBody>
      </p:sp>
      <p:sp>
        <p:nvSpPr>
          <p:cNvPr id="10" name="Hardening"/>
          <p:cNvSpPr/>
          <p:nvPr/>
        </p:nvSpPr>
        <p:spPr>
          <a:xfrm>
            <a:off x="457200" y="4206240"/>
            <a:ext cx="8229600" cy="457200"/>
          </a:xfrm>
          <a:prstGeom prst="roundRect">
            <a:avLst>
              <a:gd name="adj" fmla="val 16000"/>
            </a:avLst>
          </a:prstGeom>
          <a:solidFill>
            <a:schemeClr val="accent1"/>
          </a:solidFill>
          <a:ln/>
          <a:effectLst>
            <a:outerShdw sx="100000" sy="100000" kx="0" ky="0" algn="bl" rotWithShape="0" blurRad="76200" dist="25400" dir="5400000">
              <a:srgbClr val="000000">
                <a:alpha val="12000"/>
              </a:srgbClr>
            </a:outerShdw>
          </a:effectLst>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chemeClr val="bg1"/>
                </a:solidFill>
                <a:latin typeface="Calibri" pitchFamily="34" charset="0"/>
                <a:ea typeface="Calibri" pitchFamily="34" charset="-122"/>
                <a:cs typeface="Calibri" pitchFamily="34" charset="-120"/>
              </a:rPr>
              <a:t>To harden for production: </a:t>
            </a:r>
            <a:pPr indent="0" marL="0">
              <a:buNone/>
            </a:pPr>
            <a:r>
              <a:rPr lang="en-US" sz="1300" dirty="0">
                <a:solidFill>
                  <a:schemeClr val="bg1"/>
                </a:solidFill>
                <a:latin typeface="Calibri" pitchFamily="34" charset="0"/>
                <a:ea typeface="Calibri" pitchFamily="34" charset="-122"/>
                <a:cs typeface="Calibri" pitchFamily="34" charset="-120"/>
              </a:rPr>
              <a:t>add row versioning or locking, store files in object storage, and clean up unused files.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Upload Flow">
  <a:themeElements>
    <a:clrScheme name="Upload Flow">
      <a:dk1>
        <a:srgbClr val="1F2937"/>
      </a:dk1>
      <a:lt1>
        <a:srgbClr val="FFFFFF"/>
      </a:lt1>
      <a:dk2>
        <a:srgbClr val="0B3B3A"/>
      </a:dk2>
      <a:lt2>
        <a:srgbClr val="E8F3F1"/>
      </a:lt2>
      <a:accent1>
        <a:srgbClr val="0F766E"/>
      </a:accent1>
      <a:accent2>
        <a:srgbClr val="F59E0B"/>
      </a:accent2>
      <a:accent3>
        <a:srgbClr val="DC4C3E"/>
      </a:accent3>
      <a:accent4>
        <a:srgbClr val="2E9E5B"/>
      </a:accent4>
      <a:accent5>
        <a:srgbClr val="64748B"/>
      </a:accent5>
      <a:accent6>
        <a:srgbClr val="9A5B06"/>
      </a:accent6>
      <a:hlink>
        <a:srgbClr val="0F766E"/>
      </a:hlink>
      <a:folHlink>
        <a:srgbClr val="64748B"/>
      </a:folHlink>
    </a:clrScheme>
    <a:fontScheme name="Upload 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upload flow: UI to API to database</dc:title>
  <dc:subject>PptxGenJS Presentation</dc:subject>
  <dc:creator>Product demo</dc:creator>
  <cp:lastModifiedBy>Product demo</cp:lastModifiedBy>
  <cp:revision>1</cp:revision>
  <dcterms:created xsi:type="dcterms:W3CDTF">2026-10-08T15:31:53Z</dcterms:created>
  <dcterms:modified xsi:type="dcterms:W3CDTF">2026-10-08T15:31:53Z</dcterms:modified>
</cp:coreProperties>
</file>